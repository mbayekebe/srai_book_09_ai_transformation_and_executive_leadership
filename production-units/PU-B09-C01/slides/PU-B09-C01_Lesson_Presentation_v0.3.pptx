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Book 9, Lesson 1 of the Strategic Responsible AI curriculum. This lesson is about AI strategy and transformation. Our central concern is not how many AI tools an institution can acquire. It is how leaders decide where AI can create meaningful value, what evidence is required, which safeguards are non-negotiable, and who remains accountable. We will move from ambition to a disciplined portfolio of institutional decisions. Throughout the lesson, I will connect the framework with transferable lessons from consulting assignments in agricultural statistics, information systems, results-based monitoring, capacity development and field modelling.</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val="1024086991"/>
      </p:ext>
    </p:extLst>
  </p:cSld>
  <p:clrMapOvr>
    <a:masterClrMapping/>
  </p:clrMapOvr>
</p:notes>
</file>

<file path=ppt/notesSlides/notesSlide2.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executive question is straightforward: where should the institution use AI, and where should it not? This question is more demanding than selecting a model or vendor. It requires leaders to compare opportunities, examine evidence, identify institutional constraints and consider simpler alternatives. It also requires the courage to defer or stop an attractive initiative when the organization cannot yet operate it responsibly. By the end of the lesson, you should be able to explain not only what you recommend, but why the evidence and the institution's capabilities justify that recommendation.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val="1024086991"/>
      </p:ext>
    </p:extLst>
  </p:cSld>
  <p:clrMapOvr>
    <a:masterClrMapping/>
  </p:clrMapOvr>
</p:notes>
</file>

<file path=ppt/notesSlides/notesSlide3.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lesson has four learning outcomes. First, you will learn to frame a transformation thesis that links institutional change to a measurable outcome. Second, you will assess readiness across governance, data, people, technology, finance and operations. Third, you will prioritize a governed portfolio rather than evaluate isolated pilots. Finally, you will sequence delivery through evidence gates that authorize progression, redesign or stopping. These outcomes are designed for practical executive use. The goal is to produce decisions that can be explained, reviewed and implemented—not merely an attractive strategy document.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val="1024086991"/>
      </p:ext>
    </p:extLst>
  </p:cSld>
  <p:clrMapOvr>
    <a:masterClrMapping/>
  </p:clrMapOvr>
</p:notes>
</file>

<file path=ppt/notesSlides/notesSlide4.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 strategy is a choice system. It connects five elements: mission, evidence, capability, safeguards and value. Mission tells us why the institution should act. Evidence tells us what we know and how confidently we know it. Capability determines whether the organization can build, operate and sustain the intervention. Safeguards define the conditions under which action remains responsible. Value tells us whether the expected outcome justifies the full cost and residual risk. A credible strategy keeps these elements connected. If one is missing, a technically impressive project may still fail institutionally.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val="1024086991"/>
      </p:ext>
    </p:extLst>
  </p:cSld>
  <p:clrMapOvr>
    <a:masterClrMapping/>
  </p:clrMapOvr>
</p:notes>
</file>

<file path=ppt/notesSlides/notesSlide5.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Begin with the institutional mandate. Before discussing AI, name the public, organizational or beneficiary outcome that must improve. In a ministry, this may involve the quality or timeliness of a public service. In a statistical institution, it may involve more reliable production, validation or dissemination. The mandate establishes legitimacy and helps prevent technology from becoming an end in itself. If leaders cannot state the outcome in plain language, the proposal is not ready for technical design. Strategy starts with purpose, not procurement.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val="1024086991"/>
      </p:ext>
    </p:extLst>
  </p:cSld>
  <p:clrMapOvr>
    <a:masterClrMapping/>
  </p:clrMapOvr>
</p:notes>
</file>

<file path=ppt/notesSlides/notesSlide6.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Next, define the decision that the proposed system will support. Identify the user, the action to be taken, the timing of that action, the evidence required and the person who remains accountable. Avoid broad descriptions such as improving efficiency or modernizing services. Ask instead: who will do what differently, using which information, and with what consequence? Clear decision boundaries also identify exclusions and escalation paths. They prevent an experimental tool from quietly acquiring authority that was never formally granted.</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val="1024086991"/>
      </p:ext>
    </p:extLst>
  </p:cSld>
  <p:clrMapOvr>
    <a:masterClrMapping/>
  </p:clrMapOvr>
</p:notes>
</file>

<file path=ppt/notesSlides/notesSlide7.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transformation thesis expresses the causal logic of the initiative. A useful structure is: if we change a specific capability and workflow, then a measurable institutional outcome should improve, because a defined constraint will be reduced. The thesis should identify beneficiaries, assumptions and a reasonable time horizon. It is not a slogan or promise. It is a proposition that can be tested. When results do not appear, the thesis helps leaders determine whether the technology failed, the workflow did not change, adoption was weak, or the original causal assumption was wrong.</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val="1024086991"/>
      </p:ext>
    </p:extLst>
  </p:cSld>
  <p:clrMapOvr>
    <a:masterClrMapping/>
  </p:clrMapOvr>
</p:notes>
</file>

<file path=ppt/notesSlides/notesSlide8.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 should always be compared with simpler alternatives. These may include workflow redesign, clearer procedures, rule-based validation, improved reporting, conventional statistical analysis or better data management. The relevant question is not whether AI can perform the task. It is whether AI adds enough value to justify its additional cost, uncertainty and operating burden. In many institutional settings, the best immediate intervention is to repair definitions, processes or data flows. Choosing a simpler solution when it is sufficient is evidence of strategic discipline, not lack of ambition.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val="1024086991"/>
      </p:ext>
    </p:extLst>
  </p:cSld>
  <p:clrMapOvr>
    <a:masterClrMapping/>
  </p:clrMapOvr>
</p:notes>
</file>

<file path=ppt/notesSlides/notesSlide9.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Readiness is specific to the proposed use case. An institution may be ready for one bounded application while remaining unprepared for another. Assess at least six dimensions: governance, data, people, technology, finance and operations. Governance covers authority and oversight. Data covers quality, access, lineage and lawful use. People covers domain, technical and decision capability. Technology covers integration, security and support. Finance covers both implementation and recurrent cost. Operations covers monitoring, incident response and continuity. Document the evidence supporting every score.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val="1024086991"/>
      </p:ext>
    </p:extLst>
  </p:cSld>
  <p:clrMapOvr>
    <a:masterClrMapping/>
  </p:clrMapOvr>
</p:notes>
</file>

<file path=ppt/notesSlides/notesSlide10.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weakest readiness dimension can become a binding constraint. An average score may look satisfactory while hiding the absence of lawful authority, reliable data, operational ownership or sustainable financing. For this reason, leaders should examine the full readiness profile rather than rely on one composite number. A low score does not always mean that the initiative must be abandoned. It may indicate that remediation should come first. The strategic decision could therefore be to prepare, redesign or run a limited discovery phase instead of proceeding directly to deployment.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val="1024086991"/>
      </p:ext>
    </p:extLst>
  </p:cSld>
  <p:clrMapOvr>
    <a:masterClrMapping/>
  </p:clrMapOvr>
</p:notes>
</file>

<file path=ppt/notesSlides/notesSlide11.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experience-derived case concerns agricultural census modernization. In such assignments, reliable outputs depend on definitions, frames, classifications, field procedures, supervision and quality assurance long before advanced analysis begins. The transferable lesson for AI strategy is that analytics cannot repair an uncontrolled production system by itself. Leaders must establish the institutional and data foundations on which an AI intervention will depend. This historical consulting experience is not being presented as an AI deployment. It provides evidence about the operational conditions required for trustworthy data-driven transformation.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val="1024086991"/>
      </p:ext>
    </p:extLst>
  </p:cSld>
  <p:clrMapOvr>
    <a:masterClrMapping/>
  </p:clrMapOvr>
</p:notes>
</file>

<file path=ppt/notesSlides/notesSlide12.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second case concerns the development of agricultural information warehouses and reporting systems. Integration is often described as a technical task, but the most difficult questions concern ownership, definitions, access rights, update responsibilities and dispute resolution. Different institutions may use the same term differently or maintain incompatible reporting cycles. The AI strategy lesson is clear: integrated technology requires an agreed institutional operating model. This case is a source of transferable experience, not a claim that the historical system itself used modern AI.</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val="1024086991"/>
      </p:ext>
    </p:extLst>
  </p:cSld>
  <p:clrMapOvr>
    <a:masterClrMapping/>
  </p:clrMapOvr>
</p:notes>
</file>

<file path=ppt/notesSlides/notesSlide13.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third case comes from results-based monitoring and evaluation. An indicator has little value if it is not connected to a baseline, target, source, review frequency, responsible owner and management response. Dashboards can display information without changing decisions. The transferable AI lesson is that model outputs must be embedded in an accountability cycle. Leaders should know who reviews the result, what threshold triggers action and how consequences are recorded. Again, the consulting assignment provides institutional lessons; it is not being retrospectively described as an AI implementation.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val="1024086991"/>
      </p:ext>
    </p:extLst>
  </p:cSld>
  <p:clrMapOvr>
    <a:masterClrMapping/>
  </p:clrMapOvr>
</p:notes>
</file>

<file path=ppt/notesSlides/notesSlide14.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fourth case concerns food-loss and field modelling work. Models are useful because they organize evidence and make assumptions visible, but their outputs remain sensitive to measurement quality, context and uncertainty. Field validation is essential before a result is used operationally. For AI strategy, this means translating technical uncertainty into decision consequences. Leaders need to understand what could be wrong, how much the recommendation might change and what additional evidence would reduce uncertainty. The historical work informs this lesson without being represented as an earlier AI deployment.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val="1024086991"/>
      </p:ext>
    </p:extLst>
  </p:cSld>
  <p:clrMapOvr>
    <a:masterClrMapping/>
  </p:clrMapOvr>
</p:notes>
</file>

<file path=ppt/notesSlides/notesSlide15.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now move from individual opportunities to the portfolio. Candidate initiatives can be compared across strategic value, feasibility, evidence confidence, urgency and learning value. The purpose of scoring is not to automate the executive decision. It is to make priorities and assumptions explicit. The weights should reflect the institution's mandate and may be contested. Every score should have supporting evidence. A portfolio view also exposes competition for shared resources such as data stewardship, security, procurement, domain expertise and change-management capacity.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val="1024086991"/>
      </p:ext>
    </p:extLst>
  </p:cSld>
  <p:clrMapOvr>
    <a:masterClrMapping/>
  </p:clrMapOvr>
</p:notes>
</file>

<file path=ppt/notesSlides/notesSlide16.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Weighted scores and mandatory gates serve different purposes. A score helps compare attractive opportunities. A gate determines whether progression is permissible. High expected benefits must never cancel a serious failure involving legality, privacy, safety, security or accountable human authority. Keep those controls separate from the weighted total. An initiative may rank highly and still be deferred until a failed gate is remedied. This distinction prevents mathematical aggregation from disguising a non-negotiable institutional obligation.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val="1024086991"/>
      </p:ext>
    </p:extLst>
  </p:cSld>
  <p:clrMapOvr>
    <a:masterClrMapping/>
  </p:clrMapOvr>
</p:notes>
</file>

<file path=ppt/notesSlides/notesSlide17.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Sensitivity analysis tests whether the recommendation is robust. Change plausible weights, assumptions or scores and observe whether the portfolio ranking remains stable. If the same initiatives remain preferred across reasonable scenarios, confidence in the recommendation increases. If a small adjustment produces a rank reversal, the decision depends on contested priorities or weak evidence. That does not automatically invalidate the proposal, but it tells leadership exactly where discussion, negotiation or additional evidence is needed.</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val="1024086991"/>
      </p:ext>
    </p:extLst>
  </p:cSld>
  <p:clrMapOvr>
    <a:masterClrMapping/>
  </p:clrMapOvr>
</p:notes>
</file>

<file path=ppt/notesSlides/notesSlide18.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important gate should produce a decision record. The record states what was authorized, the evidence considered, the assumptions and limitations, the conditions attached to approval, the accountable owner, the next review date and the stopping rule. It should also record rejected alternatives and residual risks. This creates institutional memory and prevents decisions from being reconstructed later from informal conversations. A concise, well-maintained record is often more valuable than a lengthy strategy document that does not specify authority.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val="1024086991"/>
      </p:ext>
    </p:extLst>
  </p:cSld>
  <p:clrMapOvr>
    <a:masterClrMapping/>
  </p:clrMapOvr>
</p:notes>
</file>

<file path=ppt/notesSlides/notesSlide19.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Transformation requires an operating model with named responsibilities. The outcome owner is accountable for institutional value. The data steward manages definitions, quality, access and lineage. The technical owner is responsible for integration, performance and maintenance. The risk owner oversees safeguards, incidents and residual-risk acceptance. The adoption lead manages workflow change, training and user feedback. These roles may be distributed differently across institutions, but the decision rights and evidence obligations must remain clear.</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val="1024086991"/>
      </p:ext>
    </p:extLst>
  </p:cSld>
  <p:clrMapOvr>
    <a:masterClrMapping/>
  </p:clrMapOvr>
</p:notes>
</file>

<file path=ppt/notesSlides/notesSlide20.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Dependencies determine the roadmap. Definitions, ownership and lawful access normally precede development. A bounded prototype should precede field validation. Training, monitoring and support arrangements should precede operational handover. Scale should follow evidence—not enthusiasm. Each transition requires an explicit review of results, safeguards, capability and financing. Sequencing foundational work may appear slower at the beginning, but it reduces costly redesign and protects the institution from scaling an intervention it cannot sustain.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val="1024086991"/>
      </p:ext>
    </p:extLst>
  </p:cSld>
  <p:clrMapOvr>
    <a:masterClrMapping/>
  </p:clrMapOvr>
</p:notes>
</file>

<file path=ppt/notesSlides/notesSlide21.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pilot should test the operating model, not only the model. Technical accuracy is important, but the pilot must also test data flows, user behavior, exception handling, human review, monitoring, incident response, support and decision authority. A successful demonstration under controlled conditions is not yet evidence of sustainable transformation. Before scaling, leaders should confirm that ordinary teams can operate, question and improve the system under realistic workloads and constraints.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val="1024086991"/>
      </p:ext>
    </p:extLst>
  </p:cSld>
  <p:clrMapOvr>
    <a:masterClrMapping/>
  </p:clrMapOvr>
</p:notes>
</file>

<file path=ppt/notesSlides/notesSlide22.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Measure transformation value through a balanced set of indicators. Adoption tells us whether intended users actually incorporate the system into their work. Outcome measures show whether the institutional objective improves. Equity measures identify differences across groups, locations or conditions. Cost measures capture implementation and recurrent obligations. Incident measures track failures, complaints, overrides and control breaches. Model performance remains relevant, but it is only one part of the evidence required for an executive scale decision.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val="1024086991"/>
      </p:ext>
    </p:extLst>
  </p:cSld>
  <p:clrMapOvr>
    <a:masterClrMapping/>
  </p:clrMapOvr>
</p:notes>
</file>

<file path=ppt/notesSlides/notesSlide23.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Procurement should acquire institutional capability rather than long-term dependency. Requirements should cover outcomes, interfaces, data rights, documentation, security, audit evidence, knowledge transfer, portability and exit arrangements. Vendors should explain how the institution will test performance, retrieve records, manage updates and migrate or retire the service. Acceptance should depend on verified evidence products and counterpart capability—not simply installation or a successful demonstration.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val="1024086991"/>
      </p:ext>
    </p:extLst>
  </p:cSld>
  <p:clrMapOvr>
    <a:masterClrMapping/>
  </p:clrMapOvr>
</p:notes>
</file>

<file path=ppt/notesSlides/notesSlide24.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Executives do not need every mathematical detail, but they do need uncertainty translated into consequences. Explain the plausible range of outcomes, the downside exposure, the reversibility of the decision and the evidence that would reduce uncertainty. Avoid presenting a single score without assumptions. A responsible recommendation states the conditions under which it would change. This allows leadership to act proportionately while preserving the ability to pause, redesign or stop.</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val="1024086991"/>
      </p:ext>
    </p:extLst>
  </p:cSld>
  <p:clrMapOvr>
    <a:masterClrMapping/>
  </p:clrMapOvr>
</p:notes>
</file>

<file path=ppt/notesSlides/notesSlide25.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Local capability must be designed into the transformation from the beginning. Training should map to named roles and real tasks. Executives need decision literacy. Domain teams need validation and exception-handling skills. Technical teams need operational monitoring and maintenance capability. Data stewards need procedures for quality, access and lineage. Auditors need access to evidence and records. The objective is not attendance at a generic AI course. It is the demonstrated ability of local teams to operate and challenge the system independently.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val="1024086991"/>
      </p:ext>
    </p:extLst>
  </p:cSld>
  <p:clrMapOvr>
    <a:masterClrMapping/>
  </p:clrMapOvr>
</p:notes>
</file>

<file path=ppt/notesSlides/notesSlide26.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Multi-country and decentralized programmes must expect variation in language, infrastructure, institutional arrangements, definitions and operating risk. The strategy should distinguish between a controlled core and documented local extensions. Standardize concepts, interfaces and safeguards where consistency is essential. Allow adaptation where local workflow and context genuinely differ. Before transferring models, thresholds or assumptions, validate them in the receiving environment. Missing or non-comparable data should never be treated as equivalent observations.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val="1024086991"/>
      </p:ext>
    </p:extLst>
  </p:cSld>
  <p:clrMapOvr>
    <a:masterClrMapping/>
  </p:clrMapOvr>
</p:notes>
</file>

<file path=ppt/notesSlides/notesSlide27.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have now reached the point where strategy becomes a real executive decision. Consider one AI initiative in your institution—or one of the opportunities examined in this lesson. Based on the evidence currently available, would you scale it, redesign it, defer it, or stop it? Do not make the choice based only on technical potential. Consider the institutional mandate, expected benefits, data readiness, operational capability, financing, safeguards and strength of the available evidence. Select one of the four decisions shown on the screen. Then identify the most important piece of evidence supporting your choice and name the person or function that should be accountable for the decision. Pause here and formulate your answer before continuing.</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val="1024086991"/>
      </p:ext>
    </p:extLst>
  </p:cSld>
  <p:clrMapOvr>
    <a:masterClrMapping/>
  </p:clrMapOvr>
</p:notes>
</file>

<file path=ppt/notesSlides/notesSlide28.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may be more than one defensible answer. What matters is the quality and transparency of the reasoning. A strong recommendation makes four elements explicit: its assumptions, the evidence supporting those assumptions, the consequences of the available choices, and the person or governing body with decision authority. For example, an initiative with high potential value but incomplete data lineage need not be rejected permanently. A defensible decision might authorize a limited remediation phase while prohibiting operational deployment until the missing evidence is produced. The objective is not to find a predetermined answer. It is to demonstrate accountable executive reasoning.</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val="1024086991"/>
      </p:ext>
    </p:extLst>
  </p:cSld>
  <p:clrMapOvr>
    <a:masterClrMapping/>
  </p:clrMapOvr>
</p:notes>
</file>

<file path=ppt/notesSlides/notesSlide29.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companion notebook allows you to apply this process systematically. Begin with the readiness assessment and examine governance, data, people, technology, finance and operations. Next, score the candidate initiatives using strategic value, feasibility, evidence confidence, urgency and learning value. Then perform the sensitivity analysis to determine whether the recommendation remains stable when priorities change. Finally, generate the decision record, including the action, evidence, uncertainty, accountable owner, conditions, review date and stopping rule. The notebook uses synthetic data. It does not make the executive decision for you; it makes your assumptions and reasoning visible, testable and reproducible.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val="1024086991"/>
      </p:ext>
    </p:extLst>
  </p:cSld>
  <p:clrMapOvr>
    <a:masterClrMapping/>
  </p:clrMapOvr>
</p:notes>
</file>

<file path=ppt/notesSlides/notesSlide30.xml><?xml version="1.0" encoding="utf-8"?>
<p:notes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central message of this lesson is that AI strategy is a disciplined allocation of institutional attention, authority and resources. Begin with mission and beneficiary value. Demand evidence. Build the capabilities required to operate responsibly. Preserve accountable human authority. Measure adoption, outcomes, equity, cost and incidents together. Record the conditions for progression and be prepared to redesign, defer or stop weak initiatives. A credible transformation strategy is visible not only in what leadership funds, but also in what it refuses to scale without sufficient evidence. Thank you for completing Book 9, Lesson 1.</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01</a:t>
            </a:r>
            <a:endParaRPr lang="en-US" sz="1100" dirty="0"/>
          </a:p>
        </p:txBody>
      </p:sp>
      <p:sp>
        <p:nvSpPr>
          <p:cNvPr id="4" name="Shape 2"/>
          <p:cNvSpPr/>
          <p:nvPr/>
        </p:nvSpPr>
        <p:spPr>
          <a:xfrm>
            <a:off x="566928" y="6492240"/>
            <a:ext cx="11018520" cy="0"/>
          </a:xfrm>
          <a:prstGeom prst="line">
            <a:avLst/>
          </a:prstGeom>
          <a:noFill/>
          <a:ln w="12700">
            <a:solidFill>
              <a:srgbClr val="00A6A6"/>
            </a:solidFill>
            <a:prstDash val="solid"/>
          </a:ln>
        </p:spPr>
      </p:sp>
      <p:sp>
        <p:nvSpPr>
          <p:cNvPr id="5" name="Text 3"/>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6" name="Text 4"/>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1</a:t>
            </a:r>
            <a:endParaRPr lang="en-US" sz="900" dirty="0"/>
          </a:p>
        </p:txBody>
      </p:sp>
      <p:sp>
        <p:nvSpPr>
          <p:cNvPr id="7" name="Text 5"/>
          <p:cNvSpPr/>
          <p:nvPr/>
        </p:nvSpPr>
        <p:spPr>
          <a:xfrm>
            <a:off x="640080" y="1508760"/>
            <a:ext cx="7955280" cy="804672"/>
          </a:xfrm>
          <a:prstGeom prst="rect">
            <a:avLst/>
          </a:prstGeom>
          <a:noFill/>
          <a:ln/>
        </p:spPr>
        <p:txBody>
          <a:bodyPr wrap="square" lIns="0" tIns="0" rIns="0" bIns="0" rtlCol="0" anchor="ctr"/>
          <a:lstStyle/>
          <a:p>
            <a:pPr indent="0" marL="0">
              <a:buNone/>
            </a:pPr>
            <a:r>
              <a:rPr lang="en-US" sz="4800" b="1" dirty="0">
                <a:solidFill>
                  <a:srgbClr val="FFFFFF"/>
                </a:solidFill>
              </a:rPr>
              <a:t>AI STRATEGY</a:t>
            </a:r>
            <a:endParaRPr lang="en-US" sz="4800" dirty="0"/>
          </a:p>
        </p:txBody>
      </p:sp>
      <p:sp>
        <p:nvSpPr>
          <p:cNvPr id="8" name="Text 6"/>
          <p:cNvSpPr/>
          <p:nvPr/>
        </p:nvSpPr>
        <p:spPr>
          <a:xfrm>
            <a:off x="640080" y="2350008"/>
            <a:ext cx="10424160" cy="804672"/>
          </a:xfrm>
          <a:prstGeom prst="rect">
            <a:avLst/>
          </a:prstGeom>
          <a:noFill/>
          <a:ln/>
        </p:spPr>
        <p:txBody>
          <a:bodyPr wrap="square" lIns="0" tIns="0" rIns="0" bIns="0" rtlCol="0" anchor="ctr">
            <a:normAutofit/>
          </a:bodyPr>
          <a:lstStyle/>
          <a:p>
            <a:pPr indent="0" marL="0">
              <a:buNone/>
            </a:pPr>
            <a:r>
              <a:rPr lang="en-US" sz="4800" b="1" dirty="0">
                <a:solidFill>
                  <a:srgbClr val="FFFFFF"/>
                </a:solidFill>
              </a:rPr>
              <a:t>AND TRANSFORMATION</a:t>
            </a:r>
            <a:endParaRPr lang="en-US" sz="4800" dirty="0"/>
          </a:p>
        </p:txBody>
      </p:sp>
      <p:sp>
        <p:nvSpPr>
          <p:cNvPr id="9" name="Text 7"/>
          <p:cNvSpPr/>
          <p:nvPr/>
        </p:nvSpPr>
        <p:spPr>
          <a:xfrm>
            <a:off x="658368" y="3401568"/>
            <a:ext cx="8412480" cy="457200"/>
          </a:xfrm>
          <a:prstGeom prst="rect">
            <a:avLst/>
          </a:prstGeom>
          <a:noFill/>
          <a:ln/>
        </p:spPr>
        <p:txBody>
          <a:bodyPr wrap="square" lIns="0" tIns="0" rIns="0" bIns="0" rtlCol="0" anchor="ctr"/>
          <a:lstStyle/>
          <a:p>
            <a:pPr indent="0" marL="0">
              <a:buNone/>
            </a:pPr>
            <a:r>
              <a:rPr lang="en-US" sz="2400" dirty="0">
                <a:solidFill>
                  <a:srgbClr val="E8A317"/>
                </a:solidFill>
              </a:rPr>
              <a:t>From ambition to accountable institutional decisions</a:t>
            </a:r>
            <a:endParaRPr lang="en-US" sz="2400" dirty="0"/>
          </a:p>
        </p:txBody>
      </p:sp>
      <p:sp>
        <p:nvSpPr>
          <p:cNvPr id="10" name="Shape 8"/>
          <p:cNvSpPr/>
          <p:nvPr/>
        </p:nvSpPr>
        <p:spPr>
          <a:xfrm>
            <a:off x="658368" y="4709160"/>
            <a:ext cx="2011680" cy="658368"/>
          </a:xfrm>
          <a:prstGeom prst="roundRect">
            <a:avLst/>
          </a:prstGeom>
          <a:solidFill>
            <a:srgbClr val="00A6A6"/>
          </a:solidFill>
          <a:ln w="12700">
            <a:solidFill>
              <a:srgbClr val="00A6A6"/>
            </a:solidFill>
            <a:prstDash val="solid"/>
          </a:ln>
        </p:spPr>
      </p:sp>
      <p:sp>
        <p:nvSpPr>
          <p:cNvPr id="11" name="Text 9"/>
          <p:cNvSpPr/>
          <p:nvPr/>
        </p:nvSpPr>
        <p:spPr>
          <a:xfrm>
            <a:off x="658368" y="4901184"/>
            <a:ext cx="2011680" cy="201168"/>
          </a:xfrm>
          <a:prstGeom prst="rect">
            <a:avLst/>
          </a:prstGeom>
          <a:noFill/>
          <a:ln/>
        </p:spPr>
        <p:txBody>
          <a:bodyPr wrap="square" lIns="0" tIns="0" rIns="0" bIns="0" rtlCol="0" anchor="ctr"/>
          <a:lstStyle/>
          <a:p>
            <a:pPr algn="ctr" indent="0" marL="0">
              <a:buNone/>
            </a:pPr>
            <a:r>
              <a:rPr lang="en-US" sz="1400" b="1" dirty="0">
                <a:solidFill>
                  <a:srgbClr val="17365D"/>
                </a:solidFill>
              </a:rPr>
              <a:t>MISSION</a:t>
            </a:r>
            <a:endParaRPr lang="en-US" sz="1400" dirty="0"/>
          </a:p>
        </p:txBody>
      </p:sp>
      <p:sp>
        <p:nvSpPr>
          <p:cNvPr id="12" name="Shape 10"/>
          <p:cNvSpPr/>
          <p:nvPr/>
        </p:nvSpPr>
        <p:spPr>
          <a:xfrm>
            <a:off x="2990088" y="4709160"/>
            <a:ext cx="2011680" cy="658368"/>
          </a:xfrm>
          <a:prstGeom prst="roundRect">
            <a:avLst/>
          </a:prstGeom>
          <a:solidFill>
            <a:srgbClr val="E8A317"/>
          </a:solidFill>
          <a:ln w="12700">
            <a:solidFill>
              <a:srgbClr val="E8A317"/>
            </a:solidFill>
            <a:prstDash val="solid"/>
          </a:ln>
        </p:spPr>
      </p:sp>
      <p:sp>
        <p:nvSpPr>
          <p:cNvPr id="13" name="Text 11"/>
          <p:cNvSpPr/>
          <p:nvPr/>
        </p:nvSpPr>
        <p:spPr>
          <a:xfrm>
            <a:off x="2990088" y="4901184"/>
            <a:ext cx="2011680" cy="201168"/>
          </a:xfrm>
          <a:prstGeom prst="rect">
            <a:avLst/>
          </a:prstGeom>
          <a:noFill/>
          <a:ln/>
        </p:spPr>
        <p:txBody>
          <a:bodyPr wrap="square" lIns="0" tIns="0" rIns="0" bIns="0" rtlCol="0" anchor="ctr"/>
          <a:lstStyle/>
          <a:p>
            <a:pPr algn="ctr" indent="0" marL="0">
              <a:buNone/>
            </a:pPr>
            <a:r>
              <a:rPr lang="en-US" sz="1400" b="1" dirty="0">
                <a:solidFill>
                  <a:srgbClr val="17365D"/>
                </a:solidFill>
              </a:rPr>
              <a:t>EVIDENCE</a:t>
            </a:r>
            <a:endParaRPr lang="en-US" sz="1400" dirty="0"/>
          </a:p>
        </p:txBody>
      </p:sp>
      <p:sp>
        <p:nvSpPr>
          <p:cNvPr id="14" name="Shape 12"/>
          <p:cNvSpPr/>
          <p:nvPr/>
        </p:nvSpPr>
        <p:spPr>
          <a:xfrm>
            <a:off x="5321808" y="4709160"/>
            <a:ext cx="2011680" cy="658368"/>
          </a:xfrm>
          <a:prstGeom prst="roundRect">
            <a:avLst/>
          </a:prstGeom>
          <a:solidFill>
            <a:srgbClr val="00A6A6"/>
          </a:solidFill>
          <a:ln w="12700">
            <a:solidFill>
              <a:srgbClr val="00A6A6"/>
            </a:solidFill>
            <a:prstDash val="solid"/>
          </a:ln>
        </p:spPr>
      </p:sp>
      <p:sp>
        <p:nvSpPr>
          <p:cNvPr id="15" name="Text 13"/>
          <p:cNvSpPr/>
          <p:nvPr/>
        </p:nvSpPr>
        <p:spPr>
          <a:xfrm>
            <a:off x="5321808" y="4901184"/>
            <a:ext cx="2011680" cy="201168"/>
          </a:xfrm>
          <a:prstGeom prst="rect">
            <a:avLst/>
          </a:prstGeom>
          <a:noFill/>
          <a:ln/>
        </p:spPr>
        <p:txBody>
          <a:bodyPr wrap="square" lIns="0" tIns="0" rIns="0" bIns="0" rtlCol="0" anchor="ctr"/>
          <a:lstStyle/>
          <a:p>
            <a:pPr algn="ctr" indent="0" marL="0">
              <a:buNone/>
            </a:pPr>
            <a:r>
              <a:rPr lang="en-US" sz="1400" b="1" dirty="0">
                <a:solidFill>
                  <a:srgbClr val="17365D"/>
                </a:solidFill>
              </a:rPr>
              <a:t>AUTHORITY</a:t>
            </a:r>
            <a:endParaRPr lang="en-US" sz="1400" dirty="0"/>
          </a:p>
        </p:txBody>
      </p:sp>
      <p:sp>
        <p:nvSpPr>
          <p:cNvPr id="16" name="Shape 14"/>
          <p:cNvSpPr/>
          <p:nvPr/>
        </p:nvSpPr>
        <p:spPr>
          <a:xfrm>
            <a:off x="7653528" y="4709160"/>
            <a:ext cx="2011680" cy="658368"/>
          </a:xfrm>
          <a:prstGeom prst="roundRect">
            <a:avLst/>
          </a:prstGeom>
          <a:solidFill>
            <a:srgbClr val="E8A317"/>
          </a:solidFill>
          <a:ln w="12700">
            <a:solidFill>
              <a:srgbClr val="E8A317"/>
            </a:solidFill>
            <a:prstDash val="solid"/>
          </a:ln>
        </p:spPr>
      </p:sp>
      <p:sp>
        <p:nvSpPr>
          <p:cNvPr id="17" name="Text 15"/>
          <p:cNvSpPr/>
          <p:nvPr/>
        </p:nvSpPr>
        <p:spPr>
          <a:xfrm>
            <a:off x="7653528" y="4901184"/>
            <a:ext cx="2011680" cy="201168"/>
          </a:xfrm>
          <a:prstGeom prst="rect">
            <a:avLst/>
          </a:prstGeom>
          <a:noFill/>
          <a:ln/>
        </p:spPr>
        <p:txBody>
          <a:bodyPr wrap="square" lIns="0" tIns="0" rIns="0" bIns="0" rtlCol="0" anchor="ctr"/>
          <a:lstStyle/>
          <a:p>
            <a:pPr algn="ctr" indent="0" marL="0">
              <a:buNone/>
            </a:pPr>
            <a:r>
              <a:rPr lang="en-US" sz="1400" b="1" dirty="0">
                <a:solidFill>
                  <a:srgbClr val="17365D"/>
                </a:solidFill>
              </a:rPr>
              <a:t>VALUE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02</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The executive question</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2</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Where should the institution use AI—and where should it not?</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03</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Learning outcomes</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3</a:t>
            </a:r>
            <a:endParaRPr lang="en-US" sz="900" dirty="0"/>
          </a:p>
        </p:txBody>
      </p:sp>
      <p:sp>
        <p:nvSpPr>
          <p:cNvPr id="8" name="Shape 6"/>
          <p:cNvSpPr/>
          <p:nvPr/>
        </p:nvSpPr>
        <p:spPr>
          <a:xfrm>
            <a:off x="804672" y="1481328"/>
            <a:ext cx="10561320" cy="621792"/>
          </a:xfrm>
          <a:prstGeom prst="roundRect">
            <a:avLst>
              <a:gd name="adj" fmla="val 11765"/>
            </a:avLst>
          </a:prstGeom>
          <a:solidFill>
            <a:srgbClr val="FFFFFF">
              <a:alpha val="5000"/>
            </a:srgbClr>
          </a:solidFill>
          <a:ln w="17780">
            <a:solidFill>
              <a:srgbClr val="00A6A6"/>
            </a:solidFill>
            <a:prstDash val="solid"/>
          </a:ln>
        </p:spPr>
      </p:sp>
      <p:sp>
        <p:nvSpPr>
          <p:cNvPr id="9" name="Text 7"/>
          <p:cNvSpPr/>
          <p:nvPr/>
        </p:nvSpPr>
        <p:spPr>
          <a:xfrm>
            <a:off x="969264" y="1627632"/>
            <a:ext cx="1023213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01</a:t>
            </a:r>
            <a:endParaRPr lang="en-US" sz="1000" dirty="0"/>
          </a:p>
        </p:txBody>
      </p:sp>
      <p:sp>
        <p:nvSpPr>
          <p:cNvPr id="10" name="Text 8"/>
          <p:cNvSpPr/>
          <p:nvPr/>
        </p:nvSpPr>
        <p:spPr>
          <a:xfrm>
            <a:off x="969264" y="1956816"/>
            <a:ext cx="10232136" cy="27432"/>
          </a:xfrm>
          <a:prstGeom prst="rect">
            <a:avLst/>
          </a:prstGeom>
          <a:noFill/>
          <a:ln/>
        </p:spPr>
        <p:txBody>
          <a:bodyPr wrap="square" lIns="0" tIns="0" rIns="0" bIns="0" rtlCol="0" anchor="ctr">
            <a:normAutofit/>
          </a:bodyPr>
          <a:lstStyle/>
          <a:p>
            <a:pPr indent="0" marL="0">
              <a:buNone/>
            </a:pPr>
            <a:r>
              <a:rPr lang="en-US" sz="1700" dirty="0">
                <a:solidFill>
                  <a:srgbClr val="FFFFFF"/>
                </a:solidFill>
              </a:rPr>
              <a:t>Frame a transformation thesis</a:t>
            </a:r>
            <a:endParaRPr lang="en-US" sz="1700" dirty="0"/>
          </a:p>
        </p:txBody>
      </p:sp>
      <p:sp>
        <p:nvSpPr>
          <p:cNvPr id="11" name="Shape 9"/>
          <p:cNvSpPr/>
          <p:nvPr/>
        </p:nvSpPr>
        <p:spPr>
          <a:xfrm>
            <a:off x="804672" y="2322576"/>
            <a:ext cx="10561320" cy="621792"/>
          </a:xfrm>
          <a:prstGeom prst="roundRect">
            <a:avLst>
              <a:gd name="adj" fmla="val 11765"/>
            </a:avLst>
          </a:prstGeom>
          <a:solidFill>
            <a:srgbClr val="FFFFFF">
              <a:alpha val="5000"/>
            </a:srgbClr>
          </a:solidFill>
          <a:ln w="17780">
            <a:solidFill>
              <a:srgbClr val="E8A317"/>
            </a:solidFill>
            <a:prstDash val="solid"/>
          </a:ln>
        </p:spPr>
      </p:sp>
      <p:sp>
        <p:nvSpPr>
          <p:cNvPr id="12" name="Text 10"/>
          <p:cNvSpPr/>
          <p:nvPr/>
        </p:nvSpPr>
        <p:spPr>
          <a:xfrm>
            <a:off x="969264" y="2468880"/>
            <a:ext cx="10232136" cy="228600"/>
          </a:xfrm>
          <a:prstGeom prst="rect">
            <a:avLst/>
          </a:prstGeom>
          <a:noFill/>
          <a:ln/>
        </p:spPr>
        <p:txBody>
          <a:bodyPr wrap="square" lIns="0" tIns="0" rIns="0" bIns="0" rtlCol="0" anchor="ctr"/>
          <a:lstStyle/>
          <a:p>
            <a:pPr indent="0" marL="0">
              <a:buNone/>
            </a:pPr>
            <a:r>
              <a:rPr lang="en-US" sz="1000" b="1" spc="100" kern="0" dirty="0">
                <a:solidFill>
                  <a:srgbClr val="E8A317"/>
                </a:solidFill>
              </a:rPr>
              <a:t>02</a:t>
            </a:r>
            <a:endParaRPr lang="en-US" sz="1000" dirty="0"/>
          </a:p>
        </p:txBody>
      </p:sp>
      <p:sp>
        <p:nvSpPr>
          <p:cNvPr id="13" name="Text 11"/>
          <p:cNvSpPr/>
          <p:nvPr/>
        </p:nvSpPr>
        <p:spPr>
          <a:xfrm>
            <a:off x="969264" y="2798064"/>
            <a:ext cx="10232136" cy="27432"/>
          </a:xfrm>
          <a:prstGeom prst="rect">
            <a:avLst/>
          </a:prstGeom>
          <a:noFill/>
          <a:ln/>
        </p:spPr>
        <p:txBody>
          <a:bodyPr wrap="square" lIns="0" tIns="0" rIns="0" bIns="0" rtlCol="0" anchor="ctr">
            <a:normAutofit/>
          </a:bodyPr>
          <a:lstStyle/>
          <a:p>
            <a:pPr indent="0" marL="0">
              <a:buNone/>
            </a:pPr>
            <a:r>
              <a:rPr lang="en-US" sz="1700" dirty="0">
                <a:solidFill>
                  <a:srgbClr val="FFFFFF"/>
                </a:solidFill>
              </a:rPr>
              <a:t>Assess readiness</a:t>
            </a:r>
            <a:endParaRPr lang="en-US" sz="1700" dirty="0"/>
          </a:p>
        </p:txBody>
      </p:sp>
      <p:sp>
        <p:nvSpPr>
          <p:cNvPr id="14" name="Shape 12"/>
          <p:cNvSpPr/>
          <p:nvPr/>
        </p:nvSpPr>
        <p:spPr>
          <a:xfrm>
            <a:off x="804672" y="3163824"/>
            <a:ext cx="10561320" cy="621792"/>
          </a:xfrm>
          <a:prstGeom prst="roundRect">
            <a:avLst>
              <a:gd name="adj" fmla="val 11765"/>
            </a:avLst>
          </a:prstGeom>
          <a:solidFill>
            <a:srgbClr val="FFFFFF">
              <a:alpha val="5000"/>
            </a:srgbClr>
          </a:solidFill>
          <a:ln w="17780">
            <a:solidFill>
              <a:srgbClr val="00A6A6"/>
            </a:solidFill>
            <a:prstDash val="solid"/>
          </a:ln>
        </p:spPr>
      </p:sp>
      <p:sp>
        <p:nvSpPr>
          <p:cNvPr id="15" name="Text 13"/>
          <p:cNvSpPr/>
          <p:nvPr/>
        </p:nvSpPr>
        <p:spPr>
          <a:xfrm>
            <a:off x="969264" y="3310128"/>
            <a:ext cx="1023213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03</a:t>
            </a:r>
            <a:endParaRPr lang="en-US" sz="1000" dirty="0"/>
          </a:p>
        </p:txBody>
      </p:sp>
      <p:sp>
        <p:nvSpPr>
          <p:cNvPr id="16" name="Text 14"/>
          <p:cNvSpPr/>
          <p:nvPr/>
        </p:nvSpPr>
        <p:spPr>
          <a:xfrm>
            <a:off x="969264" y="3639312"/>
            <a:ext cx="10232136" cy="27432"/>
          </a:xfrm>
          <a:prstGeom prst="rect">
            <a:avLst/>
          </a:prstGeom>
          <a:noFill/>
          <a:ln/>
        </p:spPr>
        <p:txBody>
          <a:bodyPr wrap="square" lIns="0" tIns="0" rIns="0" bIns="0" rtlCol="0" anchor="ctr">
            <a:normAutofit/>
          </a:bodyPr>
          <a:lstStyle/>
          <a:p>
            <a:pPr indent="0" marL="0">
              <a:buNone/>
            </a:pPr>
            <a:r>
              <a:rPr lang="en-US" sz="1700" dirty="0">
                <a:solidFill>
                  <a:srgbClr val="FFFFFF"/>
                </a:solidFill>
              </a:rPr>
              <a:t>Prioritize a governed portfolio</a:t>
            </a:r>
            <a:endParaRPr lang="en-US" sz="1700" dirty="0"/>
          </a:p>
        </p:txBody>
      </p:sp>
      <p:sp>
        <p:nvSpPr>
          <p:cNvPr id="17" name="Shape 15"/>
          <p:cNvSpPr/>
          <p:nvPr/>
        </p:nvSpPr>
        <p:spPr>
          <a:xfrm>
            <a:off x="804672" y="4005072"/>
            <a:ext cx="10561320" cy="621792"/>
          </a:xfrm>
          <a:prstGeom prst="roundRect">
            <a:avLst>
              <a:gd name="adj" fmla="val 11765"/>
            </a:avLst>
          </a:prstGeom>
          <a:solidFill>
            <a:srgbClr val="FFFFFF">
              <a:alpha val="5000"/>
            </a:srgbClr>
          </a:solidFill>
          <a:ln w="17780">
            <a:solidFill>
              <a:srgbClr val="E8A317"/>
            </a:solidFill>
            <a:prstDash val="solid"/>
          </a:ln>
        </p:spPr>
      </p:sp>
      <p:sp>
        <p:nvSpPr>
          <p:cNvPr id="18" name="Text 16"/>
          <p:cNvSpPr/>
          <p:nvPr/>
        </p:nvSpPr>
        <p:spPr>
          <a:xfrm>
            <a:off x="969264" y="4151376"/>
            <a:ext cx="10232136" cy="228600"/>
          </a:xfrm>
          <a:prstGeom prst="rect">
            <a:avLst/>
          </a:prstGeom>
          <a:noFill/>
          <a:ln/>
        </p:spPr>
        <p:txBody>
          <a:bodyPr wrap="square" lIns="0" tIns="0" rIns="0" bIns="0" rtlCol="0" anchor="ctr"/>
          <a:lstStyle/>
          <a:p>
            <a:pPr indent="0" marL="0">
              <a:buNone/>
            </a:pPr>
            <a:r>
              <a:rPr lang="en-US" sz="1000" b="1" spc="100" kern="0" dirty="0">
                <a:solidFill>
                  <a:srgbClr val="E8A317"/>
                </a:solidFill>
              </a:rPr>
              <a:t>04</a:t>
            </a:r>
            <a:endParaRPr lang="en-US" sz="1000" dirty="0"/>
          </a:p>
        </p:txBody>
      </p:sp>
      <p:sp>
        <p:nvSpPr>
          <p:cNvPr id="19" name="Text 17"/>
          <p:cNvSpPr/>
          <p:nvPr/>
        </p:nvSpPr>
        <p:spPr>
          <a:xfrm>
            <a:off x="969264" y="4480560"/>
            <a:ext cx="10232136" cy="27432"/>
          </a:xfrm>
          <a:prstGeom prst="rect">
            <a:avLst/>
          </a:prstGeom>
          <a:noFill/>
          <a:ln/>
        </p:spPr>
        <p:txBody>
          <a:bodyPr wrap="square" lIns="0" tIns="0" rIns="0" bIns="0" rtlCol="0" anchor="ctr">
            <a:normAutofit/>
          </a:bodyPr>
          <a:lstStyle/>
          <a:p>
            <a:pPr indent="0" marL="0">
              <a:buNone/>
            </a:pPr>
            <a:r>
              <a:rPr lang="en-US" sz="1700" dirty="0">
                <a:solidFill>
                  <a:srgbClr val="FFFFFF"/>
                </a:solidFill>
              </a:rPr>
              <a:t>Sequence delivery through evidence gates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04</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AI strategy is a choice system</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4</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Mission • evidence • capability • safeguards • value</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05</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Start with the mandate</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5</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Name the public or organizational outcome before naming the technology</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06</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Define the decision</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6</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User, action, timing, evidence and accountability</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07</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Write the transformation thesis</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7</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If we change capability and workflow, then a measurable outcome should improve</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08</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Compare simpler alternatives</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8</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Workflow redesign • rules • reporting • conventional analytics • AI</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09</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Readiness is use-case specific</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9</a:t>
            </a:r>
            <a:endParaRPr lang="en-US" sz="900" dirty="0"/>
          </a:p>
        </p:txBody>
      </p:sp>
      <p:sp>
        <p:nvSpPr>
          <p:cNvPr id="8" name="Shape 6"/>
          <p:cNvSpPr/>
          <p:nvPr/>
        </p:nvSpPr>
        <p:spPr>
          <a:xfrm>
            <a:off x="640080" y="1600200"/>
            <a:ext cx="3383280" cy="1481328"/>
          </a:xfrm>
          <a:prstGeom prst="roundRect">
            <a:avLst>
              <a:gd name="adj" fmla="val 4938"/>
            </a:avLst>
          </a:prstGeom>
          <a:solidFill>
            <a:srgbClr val="FFFFFF">
              <a:alpha val="5000"/>
            </a:srgbClr>
          </a:solidFill>
          <a:ln w="17780">
            <a:solidFill>
              <a:srgbClr val="00A6A6"/>
            </a:solidFill>
            <a:prstDash val="solid"/>
          </a:ln>
        </p:spPr>
      </p:sp>
      <p:sp>
        <p:nvSpPr>
          <p:cNvPr id="9" name="Text 7"/>
          <p:cNvSpPr/>
          <p:nvPr/>
        </p:nvSpPr>
        <p:spPr>
          <a:xfrm>
            <a:off x="804672" y="1746504"/>
            <a:ext cx="305409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01</a:t>
            </a:r>
            <a:endParaRPr lang="en-US" sz="1000" dirty="0"/>
          </a:p>
        </p:txBody>
      </p:sp>
      <p:sp>
        <p:nvSpPr>
          <p:cNvPr id="10" name="Text 8"/>
          <p:cNvSpPr/>
          <p:nvPr/>
        </p:nvSpPr>
        <p:spPr>
          <a:xfrm>
            <a:off x="804672" y="207568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Governance</a:t>
            </a:r>
            <a:endParaRPr lang="en-US" sz="1700" dirty="0"/>
          </a:p>
        </p:txBody>
      </p:sp>
      <p:sp>
        <p:nvSpPr>
          <p:cNvPr id="11" name="Shape 9"/>
          <p:cNvSpPr/>
          <p:nvPr/>
        </p:nvSpPr>
        <p:spPr>
          <a:xfrm>
            <a:off x="4389120" y="1600200"/>
            <a:ext cx="3383280" cy="1481328"/>
          </a:xfrm>
          <a:prstGeom prst="roundRect">
            <a:avLst>
              <a:gd name="adj" fmla="val 4938"/>
            </a:avLst>
          </a:prstGeom>
          <a:solidFill>
            <a:srgbClr val="FFFFFF">
              <a:alpha val="5000"/>
            </a:srgbClr>
          </a:solidFill>
          <a:ln w="17780">
            <a:solidFill>
              <a:srgbClr val="E8A317"/>
            </a:solidFill>
            <a:prstDash val="solid"/>
          </a:ln>
        </p:spPr>
      </p:sp>
      <p:sp>
        <p:nvSpPr>
          <p:cNvPr id="12" name="Text 10"/>
          <p:cNvSpPr/>
          <p:nvPr/>
        </p:nvSpPr>
        <p:spPr>
          <a:xfrm>
            <a:off x="4553712" y="1746504"/>
            <a:ext cx="3054096" cy="228600"/>
          </a:xfrm>
          <a:prstGeom prst="rect">
            <a:avLst/>
          </a:prstGeom>
          <a:noFill/>
          <a:ln/>
        </p:spPr>
        <p:txBody>
          <a:bodyPr wrap="square" lIns="0" tIns="0" rIns="0" bIns="0" rtlCol="0" anchor="ctr"/>
          <a:lstStyle/>
          <a:p>
            <a:pPr indent="0" marL="0">
              <a:buNone/>
            </a:pPr>
            <a:r>
              <a:rPr lang="en-US" sz="1000" b="1" spc="100" kern="0" dirty="0">
                <a:solidFill>
                  <a:srgbClr val="E8A317"/>
                </a:solidFill>
              </a:rPr>
              <a:t>02</a:t>
            </a:r>
            <a:endParaRPr lang="en-US" sz="1000" dirty="0"/>
          </a:p>
        </p:txBody>
      </p:sp>
      <p:sp>
        <p:nvSpPr>
          <p:cNvPr id="13" name="Text 11"/>
          <p:cNvSpPr/>
          <p:nvPr/>
        </p:nvSpPr>
        <p:spPr>
          <a:xfrm>
            <a:off x="4553712" y="207568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data</a:t>
            </a:r>
            <a:endParaRPr lang="en-US" sz="1700" dirty="0"/>
          </a:p>
        </p:txBody>
      </p:sp>
      <p:sp>
        <p:nvSpPr>
          <p:cNvPr id="14" name="Shape 12"/>
          <p:cNvSpPr/>
          <p:nvPr/>
        </p:nvSpPr>
        <p:spPr>
          <a:xfrm>
            <a:off x="8138160" y="1600200"/>
            <a:ext cx="3383280" cy="1481328"/>
          </a:xfrm>
          <a:prstGeom prst="roundRect">
            <a:avLst>
              <a:gd name="adj" fmla="val 4938"/>
            </a:avLst>
          </a:prstGeom>
          <a:solidFill>
            <a:srgbClr val="FFFFFF">
              <a:alpha val="5000"/>
            </a:srgbClr>
          </a:solidFill>
          <a:ln w="17780">
            <a:solidFill>
              <a:srgbClr val="00A6A6"/>
            </a:solidFill>
            <a:prstDash val="solid"/>
          </a:ln>
        </p:spPr>
      </p:sp>
      <p:sp>
        <p:nvSpPr>
          <p:cNvPr id="15" name="Text 13"/>
          <p:cNvSpPr/>
          <p:nvPr/>
        </p:nvSpPr>
        <p:spPr>
          <a:xfrm>
            <a:off x="8302752" y="1746504"/>
            <a:ext cx="305409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03</a:t>
            </a:r>
            <a:endParaRPr lang="en-US" sz="1000" dirty="0"/>
          </a:p>
        </p:txBody>
      </p:sp>
      <p:sp>
        <p:nvSpPr>
          <p:cNvPr id="16" name="Text 14"/>
          <p:cNvSpPr/>
          <p:nvPr/>
        </p:nvSpPr>
        <p:spPr>
          <a:xfrm>
            <a:off x="8302752" y="207568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people</a:t>
            </a:r>
            <a:endParaRPr lang="en-US" sz="1700" dirty="0"/>
          </a:p>
        </p:txBody>
      </p:sp>
      <p:sp>
        <p:nvSpPr>
          <p:cNvPr id="17" name="Shape 15"/>
          <p:cNvSpPr/>
          <p:nvPr/>
        </p:nvSpPr>
        <p:spPr>
          <a:xfrm>
            <a:off x="640080" y="3474720"/>
            <a:ext cx="3383280" cy="1481328"/>
          </a:xfrm>
          <a:prstGeom prst="roundRect">
            <a:avLst>
              <a:gd name="adj" fmla="val 4938"/>
            </a:avLst>
          </a:prstGeom>
          <a:solidFill>
            <a:srgbClr val="FFFFFF">
              <a:alpha val="5000"/>
            </a:srgbClr>
          </a:solidFill>
          <a:ln w="17780">
            <a:solidFill>
              <a:srgbClr val="E8A317"/>
            </a:solidFill>
            <a:prstDash val="solid"/>
          </a:ln>
        </p:spPr>
      </p:sp>
      <p:sp>
        <p:nvSpPr>
          <p:cNvPr id="18" name="Text 16"/>
          <p:cNvSpPr/>
          <p:nvPr/>
        </p:nvSpPr>
        <p:spPr>
          <a:xfrm>
            <a:off x="804672" y="3621024"/>
            <a:ext cx="3054096" cy="228600"/>
          </a:xfrm>
          <a:prstGeom prst="rect">
            <a:avLst/>
          </a:prstGeom>
          <a:noFill/>
          <a:ln/>
        </p:spPr>
        <p:txBody>
          <a:bodyPr wrap="square" lIns="0" tIns="0" rIns="0" bIns="0" rtlCol="0" anchor="ctr"/>
          <a:lstStyle/>
          <a:p>
            <a:pPr indent="0" marL="0">
              <a:buNone/>
            </a:pPr>
            <a:r>
              <a:rPr lang="en-US" sz="1000" b="1" spc="100" kern="0" dirty="0">
                <a:solidFill>
                  <a:srgbClr val="E8A317"/>
                </a:solidFill>
              </a:rPr>
              <a:t>04</a:t>
            </a:r>
            <a:endParaRPr lang="en-US" sz="1000" dirty="0"/>
          </a:p>
        </p:txBody>
      </p:sp>
      <p:sp>
        <p:nvSpPr>
          <p:cNvPr id="19" name="Text 17"/>
          <p:cNvSpPr/>
          <p:nvPr/>
        </p:nvSpPr>
        <p:spPr>
          <a:xfrm>
            <a:off x="804672" y="395020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technology</a:t>
            </a:r>
            <a:endParaRPr lang="en-US" sz="1700" dirty="0"/>
          </a:p>
        </p:txBody>
      </p:sp>
      <p:sp>
        <p:nvSpPr>
          <p:cNvPr id="20" name="Shape 18"/>
          <p:cNvSpPr/>
          <p:nvPr/>
        </p:nvSpPr>
        <p:spPr>
          <a:xfrm>
            <a:off x="4389120" y="3474720"/>
            <a:ext cx="3383280" cy="1481328"/>
          </a:xfrm>
          <a:prstGeom prst="roundRect">
            <a:avLst>
              <a:gd name="adj" fmla="val 4938"/>
            </a:avLst>
          </a:prstGeom>
          <a:solidFill>
            <a:srgbClr val="FFFFFF">
              <a:alpha val="5000"/>
            </a:srgbClr>
          </a:solidFill>
          <a:ln w="17780">
            <a:solidFill>
              <a:srgbClr val="00A6A6"/>
            </a:solidFill>
            <a:prstDash val="solid"/>
          </a:ln>
        </p:spPr>
      </p:sp>
      <p:sp>
        <p:nvSpPr>
          <p:cNvPr id="21" name="Text 19"/>
          <p:cNvSpPr/>
          <p:nvPr/>
        </p:nvSpPr>
        <p:spPr>
          <a:xfrm>
            <a:off x="4553712" y="3621024"/>
            <a:ext cx="305409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05</a:t>
            </a:r>
            <a:endParaRPr lang="en-US" sz="1000" dirty="0"/>
          </a:p>
        </p:txBody>
      </p:sp>
      <p:sp>
        <p:nvSpPr>
          <p:cNvPr id="22" name="Text 20"/>
          <p:cNvSpPr/>
          <p:nvPr/>
        </p:nvSpPr>
        <p:spPr>
          <a:xfrm>
            <a:off x="4553712" y="395020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finance</a:t>
            </a:r>
            <a:endParaRPr lang="en-US" sz="1700" dirty="0"/>
          </a:p>
        </p:txBody>
      </p:sp>
      <p:sp>
        <p:nvSpPr>
          <p:cNvPr id="23" name="Shape 21"/>
          <p:cNvSpPr/>
          <p:nvPr/>
        </p:nvSpPr>
        <p:spPr>
          <a:xfrm>
            <a:off x="8138160" y="3474720"/>
            <a:ext cx="3383280" cy="1481328"/>
          </a:xfrm>
          <a:prstGeom prst="roundRect">
            <a:avLst>
              <a:gd name="adj" fmla="val 4938"/>
            </a:avLst>
          </a:prstGeom>
          <a:solidFill>
            <a:srgbClr val="FFFFFF">
              <a:alpha val="5000"/>
            </a:srgbClr>
          </a:solidFill>
          <a:ln w="17780">
            <a:solidFill>
              <a:srgbClr val="E8A317"/>
            </a:solidFill>
            <a:prstDash val="solid"/>
          </a:ln>
        </p:spPr>
      </p:sp>
      <p:sp>
        <p:nvSpPr>
          <p:cNvPr id="24" name="Text 22"/>
          <p:cNvSpPr/>
          <p:nvPr/>
        </p:nvSpPr>
        <p:spPr>
          <a:xfrm>
            <a:off x="8302752" y="3621024"/>
            <a:ext cx="3054096" cy="228600"/>
          </a:xfrm>
          <a:prstGeom prst="rect">
            <a:avLst/>
          </a:prstGeom>
          <a:noFill/>
          <a:ln/>
        </p:spPr>
        <p:txBody>
          <a:bodyPr wrap="square" lIns="0" tIns="0" rIns="0" bIns="0" rtlCol="0" anchor="ctr"/>
          <a:lstStyle/>
          <a:p>
            <a:pPr indent="0" marL="0">
              <a:buNone/>
            </a:pPr>
            <a:r>
              <a:rPr lang="en-US" sz="1000" b="1" spc="100" kern="0" dirty="0">
                <a:solidFill>
                  <a:srgbClr val="E8A317"/>
                </a:solidFill>
              </a:rPr>
              <a:t>06</a:t>
            </a:r>
            <a:endParaRPr lang="en-US" sz="1000" dirty="0"/>
          </a:p>
        </p:txBody>
      </p:sp>
      <p:sp>
        <p:nvSpPr>
          <p:cNvPr id="25" name="Text 23"/>
          <p:cNvSpPr/>
          <p:nvPr/>
        </p:nvSpPr>
        <p:spPr>
          <a:xfrm>
            <a:off x="8302752" y="395020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operations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10</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The weakest dimension can bind</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10</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Averages can hide a missing authority, unsafe dataset or absent operator</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11</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Experience case 1</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11</a:t>
            </a:r>
            <a:endParaRPr lang="en-US" sz="900" dirty="0"/>
          </a:p>
        </p:txBody>
      </p:sp>
      <p:sp>
        <p:nvSpPr>
          <p:cNvPr id="8" name="Shape 6"/>
          <p:cNvSpPr/>
          <p:nvPr/>
        </p:nvSpPr>
        <p:spPr>
          <a:xfrm>
            <a:off x="658368" y="1600200"/>
            <a:ext cx="2743200" cy="3474720"/>
          </a:xfrm>
          <a:prstGeom prst="roundRect">
            <a:avLst/>
          </a:prstGeom>
          <a:solidFill>
            <a:srgbClr val="00A6A6">
              <a:alpha val="18000"/>
            </a:srgbClr>
          </a:solidFill>
          <a:ln w="25400">
            <a:solidFill>
              <a:srgbClr val="00A6A6"/>
            </a:solidFill>
            <a:prstDash val="solid"/>
          </a:ln>
        </p:spPr>
      </p:sp>
      <p:sp>
        <p:nvSpPr>
          <p:cNvPr id="9" name="Text 7"/>
          <p:cNvSpPr/>
          <p:nvPr/>
        </p:nvSpPr>
        <p:spPr>
          <a:xfrm>
            <a:off x="914400" y="2148840"/>
            <a:ext cx="2194560" cy="1188720"/>
          </a:xfrm>
          <a:prstGeom prst="rect">
            <a:avLst/>
          </a:prstGeom>
          <a:noFill/>
          <a:ln/>
        </p:spPr>
        <p:txBody>
          <a:bodyPr wrap="square" lIns="0" tIns="0" rIns="0" bIns="0" rtlCol="0" anchor="ctr"/>
          <a:lstStyle/>
          <a:p>
            <a:pPr algn="ctr" indent="0" marL="0">
              <a:buNone/>
            </a:pPr>
            <a:r>
              <a:rPr lang="en-US" sz="3500" b="1" dirty="0">
                <a:solidFill>
                  <a:srgbClr val="E8A317"/>
                </a:solidFill>
              </a:rPr>
              <a:t>CASE</a:t>
            </a:r>
            <a:endParaRPr lang="en-US" sz="3500" dirty="0"/>
          </a:p>
          <a:p>
            <a:pPr algn="ctr" indent="0" marL="0">
              <a:buNone/>
            </a:pPr>
            <a:r>
              <a:rPr lang="en-US" sz="3500" b="1" dirty="0">
                <a:solidFill>
                  <a:srgbClr val="E8A317"/>
                </a:solidFill>
              </a:rPr>
              <a:t>1</a:t>
            </a:r>
            <a:endParaRPr lang="en-US" sz="3500" dirty="0"/>
          </a:p>
        </p:txBody>
      </p:sp>
      <p:sp>
        <p:nvSpPr>
          <p:cNvPr id="10" name="Text 8"/>
          <p:cNvSpPr/>
          <p:nvPr/>
        </p:nvSpPr>
        <p:spPr>
          <a:xfrm>
            <a:off x="3794760" y="1828800"/>
            <a:ext cx="7498080" cy="2011680"/>
          </a:xfrm>
          <a:prstGeom prst="rect">
            <a:avLst/>
          </a:prstGeom>
          <a:noFill/>
          <a:ln/>
        </p:spPr>
        <p:txBody>
          <a:bodyPr wrap="square" lIns="0" tIns="0" rIns="0" bIns="0" rtlCol="0" anchor="ctr">
            <a:normAutofit/>
          </a:bodyPr>
          <a:lstStyle/>
          <a:p>
            <a:pPr indent="0" marL="0">
              <a:buNone/>
            </a:pPr>
            <a:r>
              <a:rPr lang="en-US" sz="2500" b="1" dirty="0">
                <a:solidFill>
                  <a:srgbClr val="FFFFFF"/>
                </a:solidFill>
              </a:rPr>
              <a:t>Agricultural census modernization: definitions and field governance precede analytics</a:t>
            </a:r>
            <a:endParaRPr lang="en-US" sz="2500" dirty="0"/>
          </a:p>
        </p:txBody>
      </p:sp>
      <p:sp>
        <p:nvSpPr>
          <p:cNvPr id="11" name="Text 9"/>
          <p:cNvSpPr/>
          <p:nvPr/>
        </p:nvSpPr>
        <p:spPr>
          <a:xfrm>
            <a:off x="3794760" y="4160520"/>
            <a:ext cx="7040880" cy="731520"/>
          </a:xfrm>
          <a:prstGeom prst="rect">
            <a:avLst/>
          </a:prstGeom>
          <a:noFill/>
          <a:ln/>
        </p:spPr>
        <p:txBody>
          <a:bodyPr wrap="square" lIns="0" tIns="0" rIns="0" bIns="0" rtlCol="0" anchor="ctr"/>
          <a:lstStyle/>
          <a:p>
            <a:pPr indent="0" marL="0">
              <a:buNone/>
            </a:pPr>
            <a:r>
              <a:rPr lang="en-US" sz="1600" i="1" dirty="0">
                <a:solidFill>
                  <a:srgbClr val="B8C5D1"/>
                </a:solidFill>
              </a:rPr>
              <a:t>Transfer the institutional lesson—not a claim of historical AI deployment.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12</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Experience case 2</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12</a:t>
            </a:r>
            <a:endParaRPr lang="en-US" sz="900" dirty="0"/>
          </a:p>
        </p:txBody>
      </p:sp>
      <p:sp>
        <p:nvSpPr>
          <p:cNvPr id="8" name="Shape 6"/>
          <p:cNvSpPr/>
          <p:nvPr/>
        </p:nvSpPr>
        <p:spPr>
          <a:xfrm>
            <a:off x="658368" y="1600200"/>
            <a:ext cx="2743200" cy="3474720"/>
          </a:xfrm>
          <a:prstGeom prst="roundRect">
            <a:avLst/>
          </a:prstGeom>
          <a:solidFill>
            <a:srgbClr val="00A6A6">
              <a:alpha val="18000"/>
            </a:srgbClr>
          </a:solidFill>
          <a:ln w="25400">
            <a:solidFill>
              <a:srgbClr val="00A6A6"/>
            </a:solidFill>
            <a:prstDash val="solid"/>
          </a:ln>
        </p:spPr>
      </p:sp>
      <p:sp>
        <p:nvSpPr>
          <p:cNvPr id="9" name="Text 7"/>
          <p:cNvSpPr/>
          <p:nvPr/>
        </p:nvSpPr>
        <p:spPr>
          <a:xfrm>
            <a:off x="914400" y="2148840"/>
            <a:ext cx="2194560" cy="1188720"/>
          </a:xfrm>
          <a:prstGeom prst="rect">
            <a:avLst/>
          </a:prstGeom>
          <a:noFill/>
          <a:ln/>
        </p:spPr>
        <p:txBody>
          <a:bodyPr wrap="square" lIns="0" tIns="0" rIns="0" bIns="0" rtlCol="0" anchor="ctr"/>
          <a:lstStyle/>
          <a:p>
            <a:pPr algn="ctr" indent="0" marL="0">
              <a:buNone/>
            </a:pPr>
            <a:r>
              <a:rPr lang="en-US" sz="3500" b="1" dirty="0">
                <a:solidFill>
                  <a:srgbClr val="E8A317"/>
                </a:solidFill>
              </a:rPr>
              <a:t>CASE</a:t>
            </a:r>
            <a:endParaRPr lang="en-US" sz="3500" dirty="0"/>
          </a:p>
          <a:p>
            <a:pPr algn="ctr" indent="0" marL="0">
              <a:buNone/>
            </a:pPr>
            <a:r>
              <a:rPr lang="en-US" sz="3500" b="1" dirty="0">
                <a:solidFill>
                  <a:srgbClr val="E8A317"/>
                </a:solidFill>
              </a:rPr>
              <a:t>2</a:t>
            </a:r>
            <a:endParaRPr lang="en-US" sz="3500" dirty="0"/>
          </a:p>
        </p:txBody>
      </p:sp>
      <p:sp>
        <p:nvSpPr>
          <p:cNvPr id="10" name="Text 8"/>
          <p:cNvSpPr/>
          <p:nvPr/>
        </p:nvSpPr>
        <p:spPr>
          <a:xfrm>
            <a:off x="3794760" y="1828800"/>
            <a:ext cx="7498080" cy="2011680"/>
          </a:xfrm>
          <a:prstGeom prst="rect">
            <a:avLst/>
          </a:prstGeom>
          <a:noFill/>
          <a:ln/>
        </p:spPr>
        <p:txBody>
          <a:bodyPr wrap="square" lIns="0" tIns="0" rIns="0" bIns="0" rtlCol="0" anchor="ctr">
            <a:normAutofit/>
          </a:bodyPr>
          <a:lstStyle/>
          <a:p>
            <a:pPr indent="0" marL="0">
              <a:buNone/>
            </a:pPr>
            <a:r>
              <a:rPr lang="en-US" sz="2500" b="1" dirty="0">
                <a:solidFill>
                  <a:srgbClr val="FFFFFF"/>
                </a:solidFill>
              </a:rPr>
              <a:t>Agricultural information warehouse: integration is institutional work</a:t>
            </a:r>
            <a:endParaRPr lang="en-US" sz="2500" dirty="0"/>
          </a:p>
        </p:txBody>
      </p:sp>
      <p:sp>
        <p:nvSpPr>
          <p:cNvPr id="11" name="Text 9"/>
          <p:cNvSpPr/>
          <p:nvPr/>
        </p:nvSpPr>
        <p:spPr>
          <a:xfrm>
            <a:off x="3794760" y="4160520"/>
            <a:ext cx="7040880" cy="731520"/>
          </a:xfrm>
          <a:prstGeom prst="rect">
            <a:avLst/>
          </a:prstGeom>
          <a:noFill/>
          <a:ln/>
        </p:spPr>
        <p:txBody>
          <a:bodyPr wrap="square" lIns="0" tIns="0" rIns="0" bIns="0" rtlCol="0" anchor="ctr"/>
          <a:lstStyle/>
          <a:p>
            <a:pPr indent="0" marL="0">
              <a:buNone/>
            </a:pPr>
            <a:r>
              <a:rPr lang="en-US" sz="1600" i="1" dirty="0">
                <a:solidFill>
                  <a:srgbClr val="B8C5D1"/>
                </a:solidFill>
              </a:rPr>
              <a:t>Transfer the institutional lesson—not a claim of historical AI deployment.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13</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Experience case 3</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13</a:t>
            </a:r>
            <a:endParaRPr lang="en-US" sz="900" dirty="0"/>
          </a:p>
        </p:txBody>
      </p:sp>
      <p:sp>
        <p:nvSpPr>
          <p:cNvPr id="8" name="Shape 6"/>
          <p:cNvSpPr/>
          <p:nvPr/>
        </p:nvSpPr>
        <p:spPr>
          <a:xfrm>
            <a:off x="658368" y="1600200"/>
            <a:ext cx="2743200" cy="3474720"/>
          </a:xfrm>
          <a:prstGeom prst="roundRect">
            <a:avLst/>
          </a:prstGeom>
          <a:solidFill>
            <a:srgbClr val="00A6A6">
              <a:alpha val="18000"/>
            </a:srgbClr>
          </a:solidFill>
          <a:ln w="25400">
            <a:solidFill>
              <a:srgbClr val="00A6A6"/>
            </a:solidFill>
            <a:prstDash val="solid"/>
          </a:ln>
        </p:spPr>
      </p:sp>
      <p:sp>
        <p:nvSpPr>
          <p:cNvPr id="9" name="Text 7"/>
          <p:cNvSpPr/>
          <p:nvPr/>
        </p:nvSpPr>
        <p:spPr>
          <a:xfrm>
            <a:off x="914400" y="2148840"/>
            <a:ext cx="2194560" cy="1188720"/>
          </a:xfrm>
          <a:prstGeom prst="rect">
            <a:avLst/>
          </a:prstGeom>
          <a:noFill/>
          <a:ln/>
        </p:spPr>
        <p:txBody>
          <a:bodyPr wrap="square" lIns="0" tIns="0" rIns="0" bIns="0" rtlCol="0" anchor="ctr"/>
          <a:lstStyle/>
          <a:p>
            <a:pPr algn="ctr" indent="0" marL="0">
              <a:buNone/>
            </a:pPr>
            <a:r>
              <a:rPr lang="en-US" sz="3500" b="1" dirty="0">
                <a:solidFill>
                  <a:srgbClr val="E8A317"/>
                </a:solidFill>
              </a:rPr>
              <a:t>CASE</a:t>
            </a:r>
            <a:endParaRPr lang="en-US" sz="3500" dirty="0"/>
          </a:p>
          <a:p>
            <a:pPr algn="ctr" indent="0" marL="0">
              <a:buNone/>
            </a:pPr>
            <a:r>
              <a:rPr lang="en-US" sz="3500" b="1" dirty="0">
                <a:solidFill>
                  <a:srgbClr val="E8A317"/>
                </a:solidFill>
              </a:rPr>
              <a:t>3</a:t>
            </a:r>
            <a:endParaRPr lang="en-US" sz="3500" dirty="0"/>
          </a:p>
        </p:txBody>
      </p:sp>
      <p:sp>
        <p:nvSpPr>
          <p:cNvPr id="10" name="Text 8"/>
          <p:cNvSpPr/>
          <p:nvPr/>
        </p:nvSpPr>
        <p:spPr>
          <a:xfrm>
            <a:off x="3794760" y="1828800"/>
            <a:ext cx="7498080" cy="2011680"/>
          </a:xfrm>
          <a:prstGeom prst="rect">
            <a:avLst/>
          </a:prstGeom>
          <a:noFill/>
          <a:ln/>
        </p:spPr>
        <p:txBody>
          <a:bodyPr wrap="square" lIns="0" tIns="0" rIns="0" bIns="0" rtlCol="0" anchor="ctr">
            <a:normAutofit/>
          </a:bodyPr>
          <a:lstStyle/>
          <a:p>
            <a:pPr indent="0" marL="0">
              <a:buNone/>
            </a:pPr>
            <a:r>
              <a:rPr lang="en-US" sz="2500" b="1" dirty="0">
                <a:solidFill>
                  <a:srgbClr val="FFFFFF"/>
                </a:solidFill>
              </a:rPr>
              <a:t>Results-based monitoring: indicators must trigger accountable action</a:t>
            </a:r>
            <a:endParaRPr lang="en-US" sz="2500" dirty="0"/>
          </a:p>
        </p:txBody>
      </p:sp>
      <p:sp>
        <p:nvSpPr>
          <p:cNvPr id="11" name="Text 9"/>
          <p:cNvSpPr/>
          <p:nvPr/>
        </p:nvSpPr>
        <p:spPr>
          <a:xfrm>
            <a:off x="3794760" y="4160520"/>
            <a:ext cx="7040880" cy="731520"/>
          </a:xfrm>
          <a:prstGeom prst="rect">
            <a:avLst/>
          </a:prstGeom>
          <a:noFill/>
          <a:ln/>
        </p:spPr>
        <p:txBody>
          <a:bodyPr wrap="square" lIns="0" tIns="0" rIns="0" bIns="0" rtlCol="0" anchor="ctr"/>
          <a:lstStyle/>
          <a:p>
            <a:pPr indent="0" marL="0">
              <a:buNone/>
            </a:pPr>
            <a:r>
              <a:rPr lang="en-US" sz="1600" i="1" dirty="0">
                <a:solidFill>
                  <a:srgbClr val="B8C5D1"/>
                </a:solidFill>
              </a:rPr>
              <a:t>Transfer the institutional lesson—not a claim of historical AI deployment.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14</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Experience case 4</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14</a:t>
            </a:r>
            <a:endParaRPr lang="en-US" sz="900" dirty="0"/>
          </a:p>
        </p:txBody>
      </p:sp>
      <p:sp>
        <p:nvSpPr>
          <p:cNvPr id="8" name="Shape 6"/>
          <p:cNvSpPr/>
          <p:nvPr/>
        </p:nvSpPr>
        <p:spPr>
          <a:xfrm>
            <a:off x="658368" y="1600200"/>
            <a:ext cx="2743200" cy="3474720"/>
          </a:xfrm>
          <a:prstGeom prst="roundRect">
            <a:avLst/>
          </a:prstGeom>
          <a:solidFill>
            <a:srgbClr val="00A6A6">
              <a:alpha val="18000"/>
            </a:srgbClr>
          </a:solidFill>
          <a:ln w="25400">
            <a:solidFill>
              <a:srgbClr val="00A6A6"/>
            </a:solidFill>
            <a:prstDash val="solid"/>
          </a:ln>
        </p:spPr>
      </p:sp>
      <p:sp>
        <p:nvSpPr>
          <p:cNvPr id="9" name="Text 7"/>
          <p:cNvSpPr/>
          <p:nvPr/>
        </p:nvSpPr>
        <p:spPr>
          <a:xfrm>
            <a:off x="914400" y="2148840"/>
            <a:ext cx="2194560" cy="1188720"/>
          </a:xfrm>
          <a:prstGeom prst="rect">
            <a:avLst/>
          </a:prstGeom>
          <a:noFill/>
          <a:ln/>
        </p:spPr>
        <p:txBody>
          <a:bodyPr wrap="square" lIns="0" tIns="0" rIns="0" bIns="0" rtlCol="0" anchor="ctr"/>
          <a:lstStyle/>
          <a:p>
            <a:pPr algn="ctr" indent="0" marL="0">
              <a:buNone/>
            </a:pPr>
            <a:r>
              <a:rPr lang="en-US" sz="3500" b="1" dirty="0">
                <a:solidFill>
                  <a:srgbClr val="E8A317"/>
                </a:solidFill>
              </a:rPr>
              <a:t>CASE</a:t>
            </a:r>
            <a:endParaRPr lang="en-US" sz="3500" dirty="0"/>
          </a:p>
          <a:p>
            <a:pPr algn="ctr" indent="0" marL="0">
              <a:buNone/>
            </a:pPr>
            <a:r>
              <a:rPr lang="en-US" sz="3500" b="1" dirty="0">
                <a:solidFill>
                  <a:srgbClr val="E8A317"/>
                </a:solidFill>
              </a:rPr>
              <a:t>4</a:t>
            </a:r>
            <a:endParaRPr lang="en-US" sz="3500" dirty="0"/>
          </a:p>
        </p:txBody>
      </p:sp>
      <p:sp>
        <p:nvSpPr>
          <p:cNvPr id="10" name="Text 8"/>
          <p:cNvSpPr/>
          <p:nvPr/>
        </p:nvSpPr>
        <p:spPr>
          <a:xfrm>
            <a:off x="3794760" y="1828800"/>
            <a:ext cx="7498080" cy="2011680"/>
          </a:xfrm>
          <a:prstGeom prst="rect">
            <a:avLst/>
          </a:prstGeom>
          <a:noFill/>
          <a:ln/>
        </p:spPr>
        <p:txBody>
          <a:bodyPr wrap="square" lIns="0" tIns="0" rIns="0" bIns="0" rtlCol="0" anchor="ctr">
            <a:normAutofit/>
          </a:bodyPr>
          <a:lstStyle/>
          <a:p>
            <a:pPr indent="0" marL="0">
              <a:buNone/>
            </a:pPr>
            <a:r>
              <a:rPr lang="en-US" sz="2500" b="1" dirty="0">
                <a:solidFill>
                  <a:srgbClr val="FFFFFF"/>
                </a:solidFill>
              </a:rPr>
              <a:t>Food-loss modelling: uncertainty requires field validation</a:t>
            </a:r>
            <a:endParaRPr lang="en-US" sz="2500" dirty="0"/>
          </a:p>
        </p:txBody>
      </p:sp>
      <p:sp>
        <p:nvSpPr>
          <p:cNvPr id="11" name="Text 9"/>
          <p:cNvSpPr/>
          <p:nvPr/>
        </p:nvSpPr>
        <p:spPr>
          <a:xfrm>
            <a:off x="3794760" y="4160520"/>
            <a:ext cx="7040880" cy="731520"/>
          </a:xfrm>
          <a:prstGeom prst="rect">
            <a:avLst/>
          </a:prstGeom>
          <a:noFill/>
          <a:ln/>
        </p:spPr>
        <p:txBody>
          <a:bodyPr wrap="square" lIns="0" tIns="0" rIns="0" bIns="0" rtlCol="0" anchor="ctr"/>
          <a:lstStyle/>
          <a:p>
            <a:pPr indent="0" marL="0">
              <a:buNone/>
            </a:pPr>
            <a:r>
              <a:rPr lang="en-US" sz="1600" i="1" dirty="0">
                <a:solidFill>
                  <a:srgbClr val="B8C5D1"/>
                </a:solidFill>
              </a:rPr>
              <a:t>Transfer the institutional lesson—not a claim of historical AI deployment.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15</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Build the opportunity portfolio</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15</a:t>
            </a:r>
            <a:endParaRPr lang="en-US" sz="900" dirty="0"/>
          </a:p>
        </p:txBody>
      </p:sp>
      <p:sp>
        <p:nvSpPr>
          <p:cNvPr id="8" name="Shape 6"/>
          <p:cNvSpPr/>
          <p:nvPr/>
        </p:nvSpPr>
        <p:spPr>
          <a:xfrm>
            <a:off x="640080" y="1600200"/>
            <a:ext cx="3383280" cy="1481328"/>
          </a:xfrm>
          <a:prstGeom prst="roundRect">
            <a:avLst>
              <a:gd name="adj" fmla="val 4938"/>
            </a:avLst>
          </a:prstGeom>
          <a:solidFill>
            <a:srgbClr val="FFFFFF">
              <a:alpha val="5000"/>
            </a:srgbClr>
          </a:solidFill>
          <a:ln w="17780">
            <a:solidFill>
              <a:srgbClr val="00A6A6"/>
            </a:solidFill>
            <a:prstDash val="solid"/>
          </a:ln>
        </p:spPr>
      </p:sp>
      <p:sp>
        <p:nvSpPr>
          <p:cNvPr id="9" name="Text 7"/>
          <p:cNvSpPr/>
          <p:nvPr/>
        </p:nvSpPr>
        <p:spPr>
          <a:xfrm>
            <a:off x="804672" y="1746504"/>
            <a:ext cx="305409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01</a:t>
            </a:r>
            <a:endParaRPr lang="en-US" sz="1000" dirty="0"/>
          </a:p>
        </p:txBody>
      </p:sp>
      <p:sp>
        <p:nvSpPr>
          <p:cNvPr id="10" name="Text 8"/>
          <p:cNvSpPr/>
          <p:nvPr/>
        </p:nvSpPr>
        <p:spPr>
          <a:xfrm>
            <a:off x="804672" y="207568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Value</a:t>
            </a:r>
            <a:endParaRPr lang="en-US" sz="1700" dirty="0"/>
          </a:p>
        </p:txBody>
      </p:sp>
      <p:sp>
        <p:nvSpPr>
          <p:cNvPr id="11" name="Shape 9"/>
          <p:cNvSpPr/>
          <p:nvPr/>
        </p:nvSpPr>
        <p:spPr>
          <a:xfrm>
            <a:off x="4389120" y="1600200"/>
            <a:ext cx="3383280" cy="1481328"/>
          </a:xfrm>
          <a:prstGeom prst="roundRect">
            <a:avLst>
              <a:gd name="adj" fmla="val 4938"/>
            </a:avLst>
          </a:prstGeom>
          <a:solidFill>
            <a:srgbClr val="FFFFFF">
              <a:alpha val="5000"/>
            </a:srgbClr>
          </a:solidFill>
          <a:ln w="17780">
            <a:solidFill>
              <a:srgbClr val="E8A317"/>
            </a:solidFill>
            <a:prstDash val="solid"/>
          </a:ln>
        </p:spPr>
      </p:sp>
      <p:sp>
        <p:nvSpPr>
          <p:cNvPr id="12" name="Text 10"/>
          <p:cNvSpPr/>
          <p:nvPr/>
        </p:nvSpPr>
        <p:spPr>
          <a:xfrm>
            <a:off x="4553712" y="1746504"/>
            <a:ext cx="3054096" cy="228600"/>
          </a:xfrm>
          <a:prstGeom prst="rect">
            <a:avLst/>
          </a:prstGeom>
          <a:noFill/>
          <a:ln/>
        </p:spPr>
        <p:txBody>
          <a:bodyPr wrap="square" lIns="0" tIns="0" rIns="0" bIns="0" rtlCol="0" anchor="ctr"/>
          <a:lstStyle/>
          <a:p>
            <a:pPr indent="0" marL="0">
              <a:buNone/>
            </a:pPr>
            <a:r>
              <a:rPr lang="en-US" sz="1000" b="1" spc="100" kern="0" dirty="0">
                <a:solidFill>
                  <a:srgbClr val="E8A317"/>
                </a:solidFill>
              </a:rPr>
              <a:t>02</a:t>
            </a:r>
            <a:endParaRPr lang="en-US" sz="1000" dirty="0"/>
          </a:p>
        </p:txBody>
      </p:sp>
      <p:sp>
        <p:nvSpPr>
          <p:cNvPr id="13" name="Text 11"/>
          <p:cNvSpPr/>
          <p:nvPr/>
        </p:nvSpPr>
        <p:spPr>
          <a:xfrm>
            <a:off x="4553712" y="207568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feasibility</a:t>
            </a:r>
            <a:endParaRPr lang="en-US" sz="1700" dirty="0"/>
          </a:p>
        </p:txBody>
      </p:sp>
      <p:sp>
        <p:nvSpPr>
          <p:cNvPr id="14" name="Shape 12"/>
          <p:cNvSpPr/>
          <p:nvPr/>
        </p:nvSpPr>
        <p:spPr>
          <a:xfrm>
            <a:off x="8138160" y="1600200"/>
            <a:ext cx="3383280" cy="1481328"/>
          </a:xfrm>
          <a:prstGeom prst="roundRect">
            <a:avLst>
              <a:gd name="adj" fmla="val 4938"/>
            </a:avLst>
          </a:prstGeom>
          <a:solidFill>
            <a:srgbClr val="FFFFFF">
              <a:alpha val="5000"/>
            </a:srgbClr>
          </a:solidFill>
          <a:ln w="17780">
            <a:solidFill>
              <a:srgbClr val="00A6A6"/>
            </a:solidFill>
            <a:prstDash val="solid"/>
          </a:ln>
        </p:spPr>
      </p:sp>
      <p:sp>
        <p:nvSpPr>
          <p:cNvPr id="15" name="Text 13"/>
          <p:cNvSpPr/>
          <p:nvPr/>
        </p:nvSpPr>
        <p:spPr>
          <a:xfrm>
            <a:off x="8302752" y="1746504"/>
            <a:ext cx="305409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03</a:t>
            </a:r>
            <a:endParaRPr lang="en-US" sz="1000" dirty="0"/>
          </a:p>
        </p:txBody>
      </p:sp>
      <p:sp>
        <p:nvSpPr>
          <p:cNvPr id="16" name="Text 14"/>
          <p:cNvSpPr/>
          <p:nvPr/>
        </p:nvSpPr>
        <p:spPr>
          <a:xfrm>
            <a:off x="8302752" y="207568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evidence confidence</a:t>
            </a:r>
            <a:endParaRPr lang="en-US" sz="1700" dirty="0"/>
          </a:p>
        </p:txBody>
      </p:sp>
      <p:sp>
        <p:nvSpPr>
          <p:cNvPr id="17" name="Shape 15"/>
          <p:cNvSpPr/>
          <p:nvPr/>
        </p:nvSpPr>
        <p:spPr>
          <a:xfrm>
            <a:off x="640080" y="3474720"/>
            <a:ext cx="3383280" cy="1481328"/>
          </a:xfrm>
          <a:prstGeom prst="roundRect">
            <a:avLst>
              <a:gd name="adj" fmla="val 4938"/>
            </a:avLst>
          </a:prstGeom>
          <a:solidFill>
            <a:srgbClr val="FFFFFF">
              <a:alpha val="5000"/>
            </a:srgbClr>
          </a:solidFill>
          <a:ln w="17780">
            <a:solidFill>
              <a:srgbClr val="E8A317"/>
            </a:solidFill>
            <a:prstDash val="solid"/>
          </a:ln>
        </p:spPr>
      </p:sp>
      <p:sp>
        <p:nvSpPr>
          <p:cNvPr id="18" name="Text 16"/>
          <p:cNvSpPr/>
          <p:nvPr/>
        </p:nvSpPr>
        <p:spPr>
          <a:xfrm>
            <a:off x="804672" y="3621024"/>
            <a:ext cx="3054096" cy="228600"/>
          </a:xfrm>
          <a:prstGeom prst="rect">
            <a:avLst/>
          </a:prstGeom>
          <a:noFill/>
          <a:ln/>
        </p:spPr>
        <p:txBody>
          <a:bodyPr wrap="square" lIns="0" tIns="0" rIns="0" bIns="0" rtlCol="0" anchor="ctr"/>
          <a:lstStyle/>
          <a:p>
            <a:pPr indent="0" marL="0">
              <a:buNone/>
            </a:pPr>
            <a:r>
              <a:rPr lang="en-US" sz="1000" b="1" spc="100" kern="0" dirty="0">
                <a:solidFill>
                  <a:srgbClr val="E8A317"/>
                </a:solidFill>
              </a:rPr>
              <a:t>04</a:t>
            </a:r>
            <a:endParaRPr lang="en-US" sz="1000" dirty="0"/>
          </a:p>
        </p:txBody>
      </p:sp>
      <p:sp>
        <p:nvSpPr>
          <p:cNvPr id="19" name="Text 17"/>
          <p:cNvSpPr/>
          <p:nvPr/>
        </p:nvSpPr>
        <p:spPr>
          <a:xfrm>
            <a:off x="804672" y="395020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urgency</a:t>
            </a:r>
            <a:endParaRPr lang="en-US" sz="1700" dirty="0"/>
          </a:p>
        </p:txBody>
      </p:sp>
      <p:sp>
        <p:nvSpPr>
          <p:cNvPr id="20" name="Shape 18"/>
          <p:cNvSpPr/>
          <p:nvPr/>
        </p:nvSpPr>
        <p:spPr>
          <a:xfrm>
            <a:off x="4389120" y="3474720"/>
            <a:ext cx="3383280" cy="1481328"/>
          </a:xfrm>
          <a:prstGeom prst="roundRect">
            <a:avLst>
              <a:gd name="adj" fmla="val 4938"/>
            </a:avLst>
          </a:prstGeom>
          <a:solidFill>
            <a:srgbClr val="FFFFFF">
              <a:alpha val="5000"/>
            </a:srgbClr>
          </a:solidFill>
          <a:ln w="17780">
            <a:solidFill>
              <a:srgbClr val="00A6A6"/>
            </a:solidFill>
            <a:prstDash val="solid"/>
          </a:ln>
        </p:spPr>
      </p:sp>
      <p:sp>
        <p:nvSpPr>
          <p:cNvPr id="21" name="Text 19"/>
          <p:cNvSpPr/>
          <p:nvPr/>
        </p:nvSpPr>
        <p:spPr>
          <a:xfrm>
            <a:off x="4553712" y="3621024"/>
            <a:ext cx="305409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05</a:t>
            </a:r>
            <a:endParaRPr lang="en-US" sz="1000" dirty="0"/>
          </a:p>
        </p:txBody>
      </p:sp>
      <p:sp>
        <p:nvSpPr>
          <p:cNvPr id="22" name="Text 20"/>
          <p:cNvSpPr/>
          <p:nvPr/>
        </p:nvSpPr>
        <p:spPr>
          <a:xfrm>
            <a:off x="4553712" y="395020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learning value</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16</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Keep gates separate from scores</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16</a:t>
            </a:r>
            <a:endParaRPr lang="en-US" sz="900" dirty="0"/>
          </a:p>
        </p:txBody>
      </p:sp>
      <p:sp>
        <p:nvSpPr>
          <p:cNvPr id="8" name="Text 6"/>
          <p:cNvSpPr/>
          <p:nvPr/>
        </p:nvSpPr>
        <p:spPr>
          <a:xfrm>
            <a:off x="777240" y="1691640"/>
            <a:ext cx="4389120" cy="320040"/>
          </a:xfrm>
          <a:prstGeom prst="rect">
            <a:avLst/>
          </a:prstGeom>
          <a:noFill/>
          <a:ln/>
        </p:spPr>
        <p:txBody>
          <a:bodyPr wrap="square" lIns="0" tIns="0" rIns="0" bIns="0" rtlCol="0" anchor="ctr"/>
          <a:lstStyle/>
          <a:p>
            <a:pPr algn="ctr" indent="0" marL="0">
              <a:buNone/>
            </a:pPr>
            <a:r>
              <a:rPr lang="en-US" sz="2000" b="1" dirty="0">
                <a:solidFill>
                  <a:srgbClr val="00A6A6"/>
                </a:solidFill>
              </a:rPr>
              <a:t>WEIGHTED SCORE</a:t>
            </a:r>
            <a:endParaRPr lang="en-US" sz="2000" dirty="0"/>
          </a:p>
        </p:txBody>
      </p:sp>
      <p:sp>
        <p:nvSpPr>
          <p:cNvPr id="9" name="Text 7"/>
          <p:cNvSpPr/>
          <p:nvPr/>
        </p:nvSpPr>
        <p:spPr>
          <a:xfrm>
            <a:off x="914400" y="2148840"/>
            <a:ext cx="4114800" cy="2560320"/>
          </a:xfrm>
          <a:prstGeom prst="rect">
            <a:avLst/>
          </a:prstGeom>
          <a:noFill/>
          <a:ln/>
        </p:spPr>
        <p:txBody>
          <a:bodyPr wrap="square" lIns="0" tIns="0" rIns="0" bIns="0" rtlCol="0" anchor="ctr">
            <a:normAutofit/>
          </a:bodyPr>
          <a:lstStyle/>
          <a:p>
            <a:pPr algn="ctr" indent="0" marL="0">
              <a:buNone/>
            </a:pPr>
            <a:r>
              <a:rPr lang="en-US" sz="2200" dirty="0">
                <a:solidFill>
                  <a:srgbClr val="FFFFFF"/>
                </a:solidFill>
              </a:rPr>
              <a:t>Strategic value</a:t>
            </a:r>
            <a:endParaRPr lang="en-US" sz="2200" dirty="0"/>
          </a:p>
          <a:p>
            <a:pPr algn="ctr" indent="0" marL="0">
              <a:buNone/>
            </a:pPr>
            <a:r>
              <a:rPr lang="en-US" sz="2200" dirty="0">
                <a:solidFill>
                  <a:srgbClr val="FFFFFF"/>
                </a:solidFill>
              </a:rPr>
              <a:t>Feasibility</a:t>
            </a:r>
            <a:endParaRPr lang="en-US" sz="2200" dirty="0"/>
          </a:p>
          <a:p>
            <a:pPr algn="ctr" indent="0" marL="0">
              <a:buNone/>
            </a:pPr>
            <a:r>
              <a:rPr lang="en-US" sz="2200" dirty="0">
                <a:solidFill>
                  <a:srgbClr val="FFFFFF"/>
                </a:solidFill>
              </a:rPr>
              <a:t>Evidence confidence</a:t>
            </a:r>
            <a:endParaRPr lang="en-US" sz="2200" dirty="0"/>
          </a:p>
          <a:p>
            <a:pPr algn="ctr" indent="0" marL="0">
              <a:buNone/>
            </a:pPr>
            <a:r>
              <a:rPr lang="en-US" sz="2200" dirty="0">
                <a:solidFill>
                  <a:srgbClr val="FFFFFF"/>
                </a:solidFill>
              </a:rPr>
              <a:t>Urgency</a:t>
            </a:r>
            <a:endParaRPr lang="en-US" sz="2200" dirty="0"/>
          </a:p>
          <a:p>
            <a:pPr algn="ctr" indent="0" marL="0">
              <a:buNone/>
            </a:pPr>
            <a:r>
              <a:rPr lang="en-US" sz="2200" dirty="0">
                <a:solidFill>
                  <a:srgbClr val="FFFFFF"/>
                </a:solidFill>
              </a:rPr>
              <a:t>Learning value</a:t>
            </a:r>
            <a:endParaRPr lang="en-US" sz="2200" dirty="0"/>
          </a:p>
        </p:txBody>
      </p:sp>
      <p:sp>
        <p:nvSpPr>
          <p:cNvPr id="10" name="Text 8"/>
          <p:cNvSpPr/>
          <p:nvPr/>
        </p:nvSpPr>
        <p:spPr>
          <a:xfrm>
            <a:off x="5303520" y="2834640"/>
            <a:ext cx="1097280" cy="731520"/>
          </a:xfrm>
          <a:prstGeom prst="rect">
            <a:avLst/>
          </a:prstGeom>
          <a:noFill/>
          <a:ln/>
        </p:spPr>
        <p:txBody>
          <a:bodyPr wrap="square" lIns="0" tIns="0" rIns="0" bIns="0" rtlCol="0" anchor="ctr"/>
          <a:lstStyle/>
          <a:p>
            <a:pPr algn="ctr" indent="0" marL="0">
              <a:buNone/>
            </a:pPr>
            <a:r>
              <a:rPr lang="en-US" sz="4800" b="1" dirty="0">
                <a:solidFill>
                  <a:srgbClr val="E8A317"/>
                </a:solidFill>
              </a:rPr>
              <a:t>≠</a:t>
            </a:r>
            <a:endParaRPr lang="en-US" sz="4800" dirty="0"/>
          </a:p>
        </p:txBody>
      </p:sp>
      <p:sp>
        <p:nvSpPr>
          <p:cNvPr id="11" name="Text 9"/>
          <p:cNvSpPr/>
          <p:nvPr/>
        </p:nvSpPr>
        <p:spPr>
          <a:xfrm>
            <a:off x="6629400" y="1691640"/>
            <a:ext cx="4480560" cy="320040"/>
          </a:xfrm>
          <a:prstGeom prst="rect">
            <a:avLst/>
          </a:prstGeom>
          <a:noFill/>
          <a:ln/>
        </p:spPr>
        <p:txBody>
          <a:bodyPr wrap="square" lIns="0" tIns="0" rIns="0" bIns="0" rtlCol="0" anchor="ctr"/>
          <a:lstStyle/>
          <a:p>
            <a:pPr algn="ctr" indent="0" marL="0">
              <a:buNone/>
            </a:pPr>
            <a:r>
              <a:rPr lang="en-US" sz="2000" b="1" dirty="0">
                <a:solidFill>
                  <a:srgbClr val="E8A317"/>
                </a:solidFill>
              </a:rPr>
              <a:t>MANDATORY GATES</a:t>
            </a:r>
            <a:endParaRPr lang="en-US" sz="2000" dirty="0"/>
          </a:p>
        </p:txBody>
      </p:sp>
      <p:sp>
        <p:nvSpPr>
          <p:cNvPr id="12" name="Text 10"/>
          <p:cNvSpPr/>
          <p:nvPr/>
        </p:nvSpPr>
        <p:spPr>
          <a:xfrm>
            <a:off x="6812280" y="2267712"/>
            <a:ext cx="4114800" cy="2286000"/>
          </a:xfrm>
          <a:prstGeom prst="rect">
            <a:avLst/>
          </a:prstGeom>
          <a:noFill/>
          <a:ln/>
        </p:spPr>
        <p:txBody>
          <a:bodyPr wrap="square" lIns="0" tIns="0" rIns="0" bIns="0" rtlCol="0" anchor="ctr">
            <a:normAutofit/>
          </a:bodyPr>
          <a:lstStyle/>
          <a:p>
            <a:pPr algn="ctr" indent="0" marL="0">
              <a:buNone/>
            </a:pPr>
            <a:r>
              <a:rPr lang="en-US" sz="2300" dirty="0">
                <a:solidFill>
                  <a:srgbClr val="FFFFFF"/>
                </a:solidFill>
              </a:rPr>
              <a:t>Legality</a:t>
            </a:r>
            <a:endParaRPr lang="en-US" sz="2300" dirty="0"/>
          </a:p>
          <a:p>
            <a:pPr algn="ctr" indent="0" marL="0">
              <a:buNone/>
            </a:pPr>
            <a:r>
              <a:rPr lang="en-US" sz="2300" dirty="0">
                <a:solidFill>
                  <a:srgbClr val="FFFFFF"/>
                </a:solidFill>
              </a:rPr>
              <a:t>Privacy</a:t>
            </a:r>
            <a:endParaRPr lang="en-US" sz="2300" dirty="0"/>
          </a:p>
          <a:p>
            <a:pPr algn="ctr" indent="0" marL="0">
              <a:buNone/>
            </a:pPr>
            <a:r>
              <a:rPr lang="en-US" sz="2300" dirty="0">
                <a:solidFill>
                  <a:srgbClr val="FFFFFF"/>
                </a:solidFill>
              </a:rPr>
              <a:t>Safety</a:t>
            </a:r>
            <a:endParaRPr lang="en-US" sz="2300" dirty="0"/>
          </a:p>
          <a:p>
            <a:pPr algn="ctr" indent="0" marL="0">
              <a:buNone/>
            </a:pPr>
            <a:r>
              <a:rPr lang="en-US" sz="2300" dirty="0">
                <a:solidFill>
                  <a:srgbClr val="FFFFFF"/>
                </a:solidFill>
              </a:rPr>
              <a:t>Human authority</a:t>
            </a:r>
            <a:endParaRPr lang="en-US" sz="2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17</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Test sensitivity</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17</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Ask whether the recommendation survives plausible changes in priorities</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18</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Record the decision</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18</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Decision • evidence • conditions • owner • review date • stopping rule</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19</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Design the operating model</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19</a:t>
            </a:r>
            <a:endParaRPr lang="en-US" sz="900" dirty="0"/>
          </a:p>
        </p:txBody>
      </p:sp>
      <p:sp>
        <p:nvSpPr>
          <p:cNvPr id="8" name="Shape 6"/>
          <p:cNvSpPr/>
          <p:nvPr/>
        </p:nvSpPr>
        <p:spPr>
          <a:xfrm>
            <a:off x="640080" y="1600200"/>
            <a:ext cx="3383280" cy="1481328"/>
          </a:xfrm>
          <a:prstGeom prst="roundRect">
            <a:avLst>
              <a:gd name="adj" fmla="val 4938"/>
            </a:avLst>
          </a:prstGeom>
          <a:solidFill>
            <a:srgbClr val="FFFFFF">
              <a:alpha val="5000"/>
            </a:srgbClr>
          </a:solidFill>
          <a:ln w="17780">
            <a:solidFill>
              <a:srgbClr val="00A6A6"/>
            </a:solidFill>
            <a:prstDash val="solid"/>
          </a:ln>
        </p:spPr>
      </p:sp>
      <p:sp>
        <p:nvSpPr>
          <p:cNvPr id="9" name="Text 7"/>
          <p:cNvSpPr/>
          <p:nvPr/>
        </p:nvSpPr>
        <p:spPr>
          <a:xfrm>
            <a:off x="804672" y="1746504"/>
            <a:ext cx="305409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01</a:t>
            </a:r>
            <a:endParaRPr lang="en-US" sz="1000" dirty="0"/>
          </a:p>
        </p:txBody>
      </p:sp>
      <p:sp>
        <p:nvSpPr>
          <p:cNvPr id="10" name="Text 8"/>
          <p:cNvSpPr/>
          <p:nvPr/>
        </p:nvSpPr>
        <p:spPr>
          <a:xfrm>
            <a:off x="804672" y="207568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Outcome owner</a:t>
            </a:r>
            <a:endParaRPr lang="en-US" sz="1700" dirty="0"/>
          </a:p>
        </p:txBody>
      </p:sp>
      <p:sp>
        <p:nvSpPr>
          <p:cNvPr id="11" name="Shape 9"/>
          <p:cNvSpPr/>
          <p:nvPr/>
        </p:nvSpPr>
        <p:spPr>
          <a:xfrm>
            <a:off x="4389120" y="1600200"/>
            <a:ext cx="3383280" cy="1481328"/>
          </a:xfrm>
          <a:prstGeom prst="roundRect">
            <a:avLst>
              <a:gd name="adj" fmla="val 4938"/>
            </a:avLst>
          </a:prstGeom>
          <a:solidFill>
            <a:srgbClr val="FFFFFF">
              <a:alpha val="5000"/>
            </a:srgbClr>
          </a:solidFill>
          <a:ln w="17780">
            <a:solidFill>
              <a:srgbClr val="E8A317"/>
            </a:solidFill>
            <a:prstDash val="solid"/>
          </a:ln>
        </p:spPr>
      </p:sp>
      <p:sp>
        <p:nvSpPr>
          <p:cNvPr id="12" name="Text 10"/>
          <p:cNvSpPr/>
          <p:nvPr/>
        </p:nvSpPr>
        <p:spPr>
          <a:xfrm>
            <a:off x="4553712" y="1746504"/>
            <a:ext cx="3054096" cy="228600"/>
          </a:xfrm>
          <a:prstGeom prst="rect">
            <a:avLst/>
          </a:prstGeom>
          <a:noFill/>
          <a:ln/>
        </p:spPr>
        <p:txBody>
          <a:bodyPr wrap="square" lIns="0" tIns="0" rIns="0" bIns="0" rtlCol="0" anchor="ctr"/>
          <a:lstStyle/>
          <a:p>
            <a:pPr indent="0" marL="0">
              <a:buNone/>
            </a:pPr>
            <a:r>
              <a:rPr lang="en-US" sz="1000" b="1" spc="100" kern="0" dirty="0">
                <a:solidFill>
                  <a:srgbClr val="E8A317"/>
                </a:solidFill>
              </a:rPr>
              <a:t>02</a:t>
            </a:r>
            <a:endParaRPr lang="en-US" sz="1000" dirty="0"/>
          </a:p>
        </p:txBody>
      </p:sp>
      <p:sp>
        <p:nvSpPr>
          <p:cNvPr id="13" name="Text 11"/>
          <p:cNvSpPr/>
          <p:nvPr/>
        </p:nvSpPr>
        <p:spPr>
          <a:xfrm>
            <a:off x="4553712" y="207568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data steward</a:t>
            </a:r>
            <a:endParaRPr lang="en-US" sz="1700" dirty="0"/>
          </a:p>
        </p:txBody>
      </p:sp>
      <p:sp>
        <p:nvSpPr>
          <p:cNvPr id="14" name="Shape 12"/>
          <p:cNvSpPr/>
          <p:nvPr/>
        </p:nvSpPr>
        <p:spPr>
          <a:xfrm>
            <a:off x="8138160" y="1600200"/>
            <a:ext cx="3383280" cy="1481328"/>
          </a:xfrm>
          <a:prstGeom prst="roundRect">
            <a:avLst>
              <a:gd name="adj" fmla="val 4938"/>
            </a:avLst>
          </a:prstGeom>
          <a:solidFill>
            <a:srgbClr val="FFFFFF">
              <a:alpha val="5000"/>
            </a:srgbClr>
          </a:solidFill>
          <a:ln w="17780">
            <a:solidFill>
              <a:srgbClr val="00A6A6"/>
            </a:solidFill>
            <a:prstDash val="solid"/>
          </a:ln>
        </p:spPr>
      </p:sp>
      <p:sp>
        <p:nvSpPr>
          <p:cNvPr id="15" name="Text 13"/>
          <p:cNvSpPr/>
          <p:nvPr/>
        </p:nvSpPr>
        <p:spPr>
          <a:xfrm>
            <a:off x="8302752" y="1746504"/>
            <a:ext cx="305409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03</a:t>
            </a:r>
            <a:endParaRPr lang="en-US" sz="1000" dirty="0"/>
          </a:p>
        </p:txBody>
      </p:sp>
      <p:sp>
        <p:nvSpPr>
          <p:cNvPr id="16" name="Text 14"/>
          <p:cNvSpPr/>
          <p:nvPr/>
        </p:nvSpPr>
        <p:spPr>
          <a:xfrm>
            <a:off x="8302752" y="207568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technical owner</a:t>
            </a:r>
            <a:endParaRPr lang="en-US" sz="1700" dirty="0"/>
          </a:p>
        </p:txBody>
      </p:sp>
      <p:sp>
        <p:nvSpPr>
          <p:cNvPr id="17" name="Shape 15"/>
          <p:cNvSpPr/>
          <p:nvPr/>
        </p:nvSpPr>
        <p:spPr>
          <a:xfrm>
            <a:off x="640080" y="3474720"/>
            <a:ext cx="3383280" cy="1481328"/>
          </a:xfrm>
          <a:prstGeom prst="roundRect">
            <a:avLst>
              <a:gd name="adj" fmla="val 4938"/>
            </a:avLst>
          </a:prstGeom>
          <a:solidFill>
            <a:srgbClr val="FFFFFF">
              <a:alpha val="5000"/>
            </a:srgbClr>
          </a:solidFill>
          <a:ln w="17780">
            <a:solidFill>
              <a:srgbClr val="E8A317"/>
            </a:solidFill>
            <a:prstDash val="solid"/>
          </a:ln>
        </p:spPr>
      </p:sp>
      <p:sp>
        <p:nvSpPr>
          <p:cNvPr id="18" name="Text 16"/>
          <p:cNvSpPr/>
          <p:nvPr/>
        </p:nvSpPr>
        <p:spPr>
          <a:xfrm>
            <a:off x="804672" y="3621024"/>
            <a:ext cx="3054096" cy="228600"/>
          </a:xfrm>
          <a:prstGeom prst="rect">
            <a:avLst/>
          </a:prstGeom>
          <a:noFill/>
          <a:ln/>
        </p:spPr>
        <p:txBody>
          <a:bodyPr wrap="square" lIns="0" tIns="0" rIns="0" bIns="0" rtlCol="0" anchor="ctr"/>
          <a:lstStyle/>
          <a:p>
            <a:pPr indent="0" marL="0">
              <a:buNone/>
            </a:pPr>
            <a:r>
              <a:rPr lang="en-US" sz="1000" b="1" spc="100" kern="0" dirty="0">
                <a:solidFill>
                  <a:srgbClr val="E8A317"/>
                </a:solidFill>
              </a:rPr>
              <a:t>04</a:t>
            </a:r>
            <a:endParaRPr lang="en-US" sz="1000" dirty="0"/>
          </a:p>
        </p:txBody>
      </p:sp>
      <p:sp>
        <p:nvSpPr>
          <p:cNvPr id="19" name="Text 17"/>
          <p:cNvSpPr/>
          <p:nvPr/>
        </p:nvSpPr>
        <p:spPr>
          <a:xfrm>
            <a:off x="804672" y="395020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risk owner</a:t>
            </a:r>
            <a:endParaRPr lang="en-US" sz="1700" dirty="0"/>
          </a:p>
        </p:txBody>
      </p:sp>
      <p:sp>
        <p:nvSpPr>
          <p:cNvPr id="20" name="Shape 18"/>
          <p:cNvSpPr/>
          <p:nvPr/>
        </p:nvSpPr>
        <p:spPr>
          <a:xfrm>
            <a:off x="4389120" y="3474720"/>
            <a:ext cx="3383280" cy="1481328"/>
          </a:xfrm>
          <a:prstGeom prst="roundRect">
            <a:avLst>
              <a:gd name="adj" fmla="val 4938"/>
            </a:avLst>
          </a:prstGeom>
          <a:solidFill>
            <a:srgbClr val="FFFFFF">
              <a:alpha val="5000"/>
            </a:srgbClr>
          </a:solidFill>
          <a:ln w="17780">
            <a:solidFill>
              <a:srgbClr val="00A6A6"/>
            </a:solidFill>
            <a:prstDash val="solid"/>
          </a:ln>
        </p:spPr>
      </p:sp>
      <p:sp>
        <p:nvSpPr>
          <p:cNvPr id="21" name="Text 19"/>
          <p:cNvSpPr/>
          <p:nvPr/>
        </p:nvSpPr>
        <p:spPr>
          <a:xfrm>
            <a:off x="4553712" y="3621024"/>
            <a:ext cx="305409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05</a:t>
            </a:r>
            <a:endParaRPr lang="en-US" sz="1000" dirty="0"/>
          </a:p>
        </p:txBody>
      </p:sp>
      <p:sp>
        <p:nvSpPr>
          <p:cNvPr id="22" name="Text 20"/>
          <p:cNvSpPr/>
          <p:nvPr/>
        </p:nvSpPr>
        <p:spPr>
          <a:xfrm>
            <a:off x="4553712" y="395020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adoption lead</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20</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Sequence dependencies</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20</a:t>
            </a:r>
            <a:endParaRPr lang="en-US" sz="900" dirty="0"/>
          </a:p>
        </p:txBody>
      </p:sp>
      <p:sp>
        <p:nvSpPr>
          <p:cNvPr id="8" name="Shape 6"/>
          <p:cNvSpPr/>
          <p:nvPr/>
        </p:nvSpPr>
        <p:spPr>
          <a:xfrm>
            <a:off x="658368" y="2331720"/>
            <a:ext cx="1993392" cy="1234440"/>
          </a:xfrm>
          <a:prstGeom prst="chevron">
            <a:avLst/>
          </a:prstGeom>
          <a:solidFill>
            <a:srgbClr val="E8A317"/>
          </a:solidFill>
          <a:ln w="12700">
            <a:solidFill>
              <a:srgbClr val="17365D"/>
            </a:solidFill>
            <a:prstDash val="solid"/>
          </a:ln>
        </p:spPr>
      </p:sp>
      <p:sp>
        <p:nvSpPr>
          <p:cNvPr id="9" name="Text 7"/>
          <p:cNvSpPr/>
          <p:nvPr/>
        </p:nvSpPr>
        <p:spPr>
          <a:xfrm>
            <a:off x="704088" y="2807208"/>
            <a:ext cx="1600200" cy="219456"/>
          </a:xfrm>
          <a:prstGeom prst="rect">
            <a:avLst/>
          </a:prstGeom>
          <a:noFill/>
          <a:ln/>
        </p:spPr>
        <p:txBody>
          <a:bodyPr wrap="square" lIns="0" tIns="0" rIns="0" bIns="0" rtlCol="0" anchor="ctr"/>
          <a:lstStyle/>
          <a:p>
            <a:pPr algn="ctr" indent="0" marL="0">
              <a:buNone/>
            </a:pPr>
            <a:r>
              <a:rPr lang="en-US" sz="1400" b="1" dirty="0">
                <a:solidFill>
                  <a:srgbClr val="17365D"/>
                </a:solidFill>
              </a:rPr>
              <a:t>DEFINE</a:t>
            </a:r>
            <a:endParaRPr lang="en-US" sz="1400" dirty="0"/>
          </a:p>
        </p:txBody>
      </p:sp>
      <p:sp>
        <p:nvSpPr>
          <p:cNvPr id="10" name="Shape 8"/>
          <p:cNvSpPr/>
          <p:nvPr/>
        </p:nvSpPr>
        <p:spPr>
          <a:xfrm>
            <a:off x="2926080" y="2331720"/>
            <a:ext cx="1993392" cy="1234440"/>
          </a:xfrm>
          <a:prstGeom prst="chevron">
            <a:avLst/>
          </a:prstGeom>
          <a:solidFill>
            <a:srgbClr val="00A6A6"/>
          </a:solidFill>
          <a:ln w="12700">
            <a:solidFill>
              <a:srgbClr val="17365D"/>
            </a:solidFill>
            <a:prstDash val="solid"/>
          </a:ln>
        </p:spPr>
      </p:sp>
      <p:sp>
        <p:nvSpPr>
          <p:cNvPr id="11" name="Text 9"/>
          <p:cNvSpPr/>
          <p:nvPr/>
        </p:nvSpPr>
        <p:spPr>
          <a:xfrm>
            <a:off x="2971800" y="2807208"/>
            <a:ext cx="1600200" cy="219456"/>
          </a:xfrm>
          <a:prstGeom prst="rect">
            <a:avLst/>
          </a:prstGeom>
          <a:noFill/>
          <a:ln/>
        </p:spPr>
        <p:txBody>
          <a:bodyPr wrap="square" lIns="0" tIns="0" rIns="0" bIns="0" rtlCol="0" anchor="ctr"/>
          <a:lstStyle/>
          <a:p>
            <a:pPr algn="ctr" indent="0" marL="0">
              <a:buNone/>
            </a:pPr>
            <a:r>
              <a:rPr lang="en-US" sz="1400" b="1" dirty="0">
                <a:solidFill>
                  <a:srgbClr val="17365D"/>
                </a:solidFill>
              </a:rPr>
              <a:t>AUTHORIZE</a:t>
            </a:r>
            <a:endParaRPr lang="en-US" sz="1400" dirty="0"/>
          </a:p>
        </p:txBody>
      </p:sp>
      <p:sp>
        <p:nvSpPr>
          <p:cNvPr id="12" name="Shape 10"/>
          <p:cNvSpPr/>
          <p:nvPr/>
        </p:nvSpPr>
        <p:spPr>
          <a:xfrm>
            <a:off x="5193792" y="2331720"/>
            <a:ext cx="1993392" cy="1234440"/>
          </a:xfrm>
          <a:prstGeom prst="chevron">
            <a:avLst/>
          </a:prstGeom>
          <a:solidFill>
            <a:srgbClr val="E8A317"/>
          </a:solidFill>
          <a:ln w="12700">
            <a:solidFill>
              <a:srgbClr val="17365D"/>
            </a:solidFill>
            <a:prstDash val="solid"/>
          </a:ln>
        </p:spPr>
      </p:sp>
      <p:sp>
        <p:nvSpPr>
          <p:cNvPr id="13" name="Text 11"/>
          <p:cNvSpPr/>
          <p:nvPr/>
        </p:nvSpPr>
        <p:spPr>
          <a:xfrm>
            <a:off x="5239512" y="2807208"/>
            <a:ext cx="1600200" cy="219456"/>
          </a:xfrm>
          <a:prstGeom prst="rect">
            <a:avLst/>
          </a:prstGeom>
          <a:noFill/>
          <a:ln/>
        </p:spPr>
        <p:txBody>
          <a:bodyPr wrap="square" lIns="0" tIns="0" rIns="0" bIns="0" rtlCol="0" anchor="ctr"/>
          <a:lstStyle/>
          <a:p>
            <a:pPr algn="ctr" indent="0" marL="0">
              <a:buNone/>
            </a:pPr>
            <a:r>
              <a:rPr lang="en-US" sz="1400" b="1" dirty="0">
                <a:solidFill>
                  <a:srgbClr val="17365D"/>
                </a:solidFill>
              </a:rPr>
              <a:t>PILOT</a:t>
            </a:r>
            <a:endParaRPr lang="en-US" sz="1400" dirty="0"/>
          </a:p>
        </p:txBody>
      </p:sp>
      <p:sp>
        <p:nvSpPr>
          <p:cNvPr id="14" name="Shape 12"/>
          <p:cNvSpPr/>
          <p:nvPr/>
        </p:nvSpPr>
        <p:spPr>
          <a:xfrm>
            <a:off x="7461504" y="2331720"/>
            <a:ext cx="1993392" cy="1234440"/>
          </a:xfrm>
          <a:prstGeom prst="chevron">
            <a:avLst/>
          </a:prstGeom>
          <a:solidFill>
            <a:srgbClr val="00A6A6"/>
          </a:solidFill>
          <a:ln w="12700">
            <a:solidFill>
              <a:srgbClr val="17365D"/>
            </a:solidFill>
            <a:prstDash val="solid"/>
          </a:ln>
        </p:spPr>
      </p:sp>
      <p:sp>
        <p:nvSpPr>
          <p:cNvPr id="15" name="Text 13"/>
          <p:cNvSpPr/>
          <p:nvPr/>
        </p:nvSpPr>
        <p:spPr>
          <a:xfrm>
            <a:off x="7507224" y="2807208"/>
            <a:ext cx="1600200" cy="219456"/>
          </a:xfrm>
          <a:prstGeom prst="rect">
            <a:avLst/>
          </a:prstGeom>
          <a:noFill/>
          <a:ln/>
        </p:spPr>
        <p:txBody>
          <a:bodyPr wrap="square" lIns="0" tIns="0" rIns="0" bIns="0" rtlCol="0" anchor="ctr"/>
          <a:lstStyle/>
          <a:p>
            <a:pPr algn="ctr" indent="0" marL="0">
              <a:buNone/>
            </a:pPr>
            <a:r>
              <a:rPr lang="en-US" sz="1400" b="1" dirty="0">
                <a:solidFill>
                  <a:srgbClr val="17365D"/>
                </a:solidFill>
              </a:rPr>
              <a:t>VALIDATE</a:t>
            </a:r>
            <a:endParaRPr lang="en-US" sz="1400" dirty="0"/>
          </a:p>
        </p:txBody>
      </p:sp>
      <p:sp>
        <p:nvSpPr>
          <p:cNvPr id="16" name="Shape 14"/>
          <p:cNvSpPr/>
          <p:nvPr/>
        </p:nvSpPr>
        <p:spPr>
          <a:xfrm>
            <a:off x="9729216" y="2331720"/>
            <a:ext cx="1993392" cy="1234440"/>
          </a:xfrm>
          <a:prstGeom prst="chevron">
            <a:avLst/>
          </a:prstGeom>
          <a:solidFill>
            <a:srgbClr val="E8A317"/>
          </a:solidFill>
          <a:ln w="12700">
            <a:solidFill>
              <a:srgbClr val="17365D"/>
            </a:solidFill>
            <a:prstDash val="solid"/>
          </a:ln>
        </p:spPr>
      </p:sp>
      <p:sp>
        <p:nvSpPr>
          <p:cNvPr id="17" name="Text 15"/>
          <p:cNvSpPr/>
          <p:nvPr/>
        </p:nvSpPr>
        <p:spPr>
          <a:xfrm>
            <a:off x="9774936" y="2807208"/>
            <a:ext cx="1600200" cy="219456"/>
          </a:xfrm>
          <a:prstGeom prst="rect">
            <a:avLst/>
          </a:prstGeom>
          <a:noFill/>
          <a:ln/>
        </p:spPr>
        <p:txBody>
          <a:bodyPr wrap="square" lIns="0" tIns="0" rIns="0" bIns="0" rtlCol="0" anchor="ctr"/>
          <a:lstStyle/>
          <a:p>
            <a:pPr algn="ctr" indent="0" marL="0">
              <a:buNone/>
            </a:pPr>
            <a:r>
              <a:rPr lang="en-US" sz="1400" b="1" dirty="0">
                <a:solidFill>
                  <a:srgbClr val="17365D"/>
                </a:solidFill>
              </a:rPr>
              <a:t>SCALE</a:t>
            </a:r>
            <a:endParaRPr lang="en-US" sz="1400" dirty="0"/>
          </a:p>
        </p:txBody>
      </p:sp>
      <p:sp>
        <p:nvSpPr>
          <p:cNvPr id="18" name="Text 16"/>
          <p:cNvSpPr/>
          <p:nvPr/>
        </p:nvSpPr>
        <p:spPr>
          <a:xfrm>
            <a:off x="1005840" y="4343400"/>
            <a:ext cx="10058400" cy="548640"/>
          </a:xfrm>
          <a:prstGeom prst="rect">
            <a:avLst/>
          </a:prstGeom>
          <a:noFill/>
          <a:ln/>
        </p:spPr>
        <p:txBody>
          <a:bodyPr wrap="square" lIns="0" tIns="0" rIns="0" bIns="0" rtlCol="0" anchor="ctr"/>
          <a:lstStyle/>
          <a:p>
            <a:pPr algn="ctr" indent="0" marL="0">
              <a:buNone/>
            </a:pPr>
            <a:r>
              <a:rPr lang="en-US" sz="2100" dirty="0">
                <a:solidFill>
                  <a:srgbClr val="FFFFFF"/>
                </a:solidFill>
              </a:rPr>
              <a:t>Each transition requires evidence, authority and a recorded condition.</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21</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Pilot the operating model</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21</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Test roles, controls, monitoring and escalation—not only the model</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22</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Measure transformation value</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22</a:t>
            </a:r>
            <a:endParaRPr lang="en-US" sz="900" dirty="0"/>
          </a:p>
        </p:txBody>
      </p:sp>
      <p:sp>
        <p:nvSpPr>
          <p:cNvPr id="8" name="Shape 6"/>
          <p:cNvSpPr/>
          <p:nvPr/>
        </p:nvSpPr>
        <p:spPr>
          <a:xfrm>
            <a:off x="640080" y="1600200"/>
            <a:ext cx="3383280" cy="1481328"/>
          </a:xfrm>
          <a:prstGeom prst="roundRect">
            <a:avLst>
              <a:gd name="adj" fmla="val 4938"/>
            </a:avLst>
          </a:prstGeom>
          <a:solidFill>
            <a:srgbClr val="FFFFFF">
              <a:alpha val="5000"/>
            </a:srgbClr>
          </a:solidFill>
          <a:ln w="17780">
            <a:solidFill>
              <a:srgbClr val="00A6A6"/>
            </a:solidFill>
            <a:prstDash val="solid"/>
          </a:ln>
        </p:spPr>
      </p:sp>
      <p:sp>
        <p:nvSpPr>
          <p:cNvPr id="9" name="Text 7"/>
          <p:cNvSpPr/>
          <p:nvPr/>
        </p:nvSpPr>
        <p:spPr>
          <a:xfrm>
            <a:off x="804672" y="1746504"/>
            <a:ext cx="305409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01</a:t>
            </a:r>
            <a:endParaRPr lang="en-US" sz="1000" dirty="0"/>
          </a:p>
        </p:txBody>
      </p:sp>
      <p:sp>
        <p:nvSpPr>
          <p:cNvPr id="10" name="Text 8"/>
          <p:cNvSpPr/>
          <p:nvPr/>
        </p:nvSpPr>
        <p:spPr>
          <a:xfrm>
            <a:off x="804672" y="207568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Adoption</a:t>
            </a:r>
            <a:endParaRPr lang="en-US" sz="1700" dirty="0"/>
          </a:p>
        </p:txBody>
      </p:sp>
      <p:sp>
        <p:nvSpPr>
          <p:cNvPr id="11" name="Shape 9"/>
          <p:cNvSpPr/>
          <p:nvPr/>
        </p:nvSpPr>
        <p:spPr>
          <a:xfrm>
            <a:off x="4389120" y="1600200"/>
            <a:ext cx="3383280" cy="1481328"/>
          </a:xfrm>
          <a:prstGeom prst="roundRect">
            <a:avLst>
              <a:gd name="adj" fmla="val 4938"/>
            </a:avLst>
          </a:prstGeom>
          <a:solidFill>
            <a:srgbClr val="FFFFFF">
              <a:alpha val="5000"/>
            </a:srgbClr>
          </a:solidFill>
          <a:ln w="17780">
            <a:solidFill>
              <a:srgbClr val="E8A317"/>
            </a:solidFill>
            <a:prstDash val="solid"/>
          </a:ln>
        </p:spPr>
      </p:sp>
      <p:sp>
        <p:nvSpPr>
          <p:cNvPr id="12" name="Text 10"/>
          <p:cNvSpPr/>
          <p:nvPr/>
        </p:nvSpPr>
        <p:spPr>
          <a:xfrm>
            <a:off x="4553712" y="1746504"/>
            <a:ext cx="3054096" cy="228600"/>
          </a:xfrm>
          <a:prstGeom prst="rect">
            <a:avLst/>
          </a:prstGeom>
          <a:noFill/>
          <a:ln/>
        </p:spPr>
        <p:txBody>
          <a:bodyPr wrap="square" lIns="0" tIns="0" rIns="0" bIns="0" rtlCol="0" anchor="ctr"/>
          <a:lstStyle/>
          <a:p>
            <a:pPr indent="0" marL="0">
              <a:buNone/>
            </a:pPr>
            <a:r>
              <a:rPr lang="en-US" sz="1000" b="1" spc="100" kern="0" dirty="0">
                <a:solidFill>
                  <a:srgbClr val="E8A317"/>
                </a:solidFill>
              </a:rPr>
              <a:t>02</a:t>
            </a:r>
            <a:endParaRPr lang="en-US" sz="1000" dirty="0"/>
          </a:p>
        </p:txBody>
      </p:sp>
      <p:sp>
        <p:nvSpPr>
          <p:cNvPr id="13" name="Text 11"/>
          <p:cNvSpPr/>
          <p:nvPr/>
        </p:nvSpPr>
        <p:spPr>
          <a:xfrm>
            <a:off x="4553712" y="207568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outcome</a:t>
            </a:r>
            <a:endParaRPr lang="en-US" sz="1700" dirty="0"/>
          </a:p>
        </p:txBody>
      </p:sp>
      <p:sp>
        <p:nvSpPr>
          <p:cNvPr id="14" name="Shape 12"/>
          <p:cNvSpPr/>
          <p:nvPr/>
        </p:nvSpPr>
        <p:spPr>
          <a:xfrm>
            <a:off x="8138160" y="1600200"/>
            <a:ext cx="3383280" cy="1481328"/>
          </a:xfrm>
          <a:prstGeom prst="roundRect">
            <a:avLst>
              <a:gd name="adj" fmla="val 4938"/>
            </a:avLst>
          </a:prstGeom>
          <a:solidFill>
            <a:srgbClr val="FFFFFF">
              <a:alpha val="5000"/>
            </a:srgbClr>
          </a:solidFill>
          <a:ln w="17780">
            <a:solidFill>
              <a:srgbClr val="00A6A6"/>
            </a:solidFill>
            <a:prstDash val="solid"/>
          </a:ln>
        </p:spPr>
      </p:sp>
      <p:sp>
        <p:nvSpPr>
          <p:cNvPr id="15" name="Text 13"/>
          <p:cNvSpPr/>
          <p:nvPr/>
        </p:nvSpPr>
        <p:spPr>
          <a:xfrm>
            <a:off x="8302752" y="1746504"/>
            <a:ext cx="305409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03</a:t>
            </a:r>
            <a:endParaRPr lang="en-US" sz="1000" dirty="0"/>
          </a:p>
        </p:txBody>
      </p:sp>
      <p:sp>
        <p:nvSpPr>
          <p:cNvPr id="16" name="Text 14"/>
          <p:cNvSpPr/>
          <p:nvPr/>
        </p:nvSpPr>
        <p:spPr>
          <a:xfrm>
            <a:off x="8302752" y="207568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equity</a:t>
            </a:r>
            <a:endParaRPr lang="en-US" sz="1700" dirty="0"/>
          </a:p>
        </p:txBody>
      </p:sp>
      <p:sp>
        <p:nvSpPr>
          <p:cNvPr id="17" name="Shape 15"/>
          <p:cNvSpPr/>
          <p:nvPr/>
        </p:nvSpPr>
        <p:spPr>
          <a:xfrm>
            <a:off x="640080" y="3474720"/>
            <a:ext cx="3383280" cy="1481328"/>
          </a:xfrm>
          <a:prstGeom prst="roundRect">
            <a:avLst>
              <a:gd name="adj" fmla="val 4938"/>
            </a:avLst>
          </a:prstGeom>
          <a:solidFill>
            <a:srgbClr val="FFFFFF">
              <a:alpha val="5000"/>
            </a:srgbClr>
          </a:solidFill>
          <a:ln w="17780">
            <a:solidFill>
              <a:srgbClr val="E8A317"/>
            </a:solidFill>
            <a:prstDash val="solid"/>
          </a:ln>
        </p:spPr>
      </p:sp>
      <p:sp>
        <p:nvSpPr>
          <p:cNvPr id="18" name="Text 16"/>
          <p:cNvSpPr/>
          <p:nvPr/>
        </p:nvSpPr>
        <p:spPr>
          <a:xfrm>
            <a:off x="804672" y="3621024"/>
            <a:ext cx="3054096" cy="228600"/>
          </a:xfrm>
          <a:prstGeom prst="rect">
            <a:avLst/>
          </a:prstGeom>
          <a:noFill/>
          <a:ln/>
        </p:spPr>
        <p:txBody>
          <a:bodyPr wrap="square" lIns="0" tIns="0" rIns="0" bIns="0" rtlCol="0" anchor="ctr"/>
          <a:lstStyle/>
          <a:p>
            <a:pPr indent="0" marL="0">
              <a:buNone/>
            </a:pPr>
            <a:r>
              <a:rPr lang="en-US" sz="1000" b="1" spc="100" kern="0" dirty="0">
                <a:solidFill>
                  <a:srgbClr val="E8A317"/>
                </a:solidFill>
              </a:rPr>
              <a:t>04</a:t>
            </a:r>
            <a:endParaRPr lang="en-US" sz="1000" dirty="0"/>
          </a:p>
        </p:txBody>
      </p:sp>
      <p:sp>
        <p:nvSpPr>
          <p:cNvPr id="19" name="Text 17"/>
          <p:cNvSpPr/>
          <p:nvPr/>
        </p:nvSpPr>
        <p:spPr>
          <a:xfrm>
            <a:off x="804672" y="395020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cost</a:t>
            </a:r>
            <a:endParaRPr lang="en-US" sz="1700" dirty="0"/>
          </a:p>
        </p:txBody>
      </p:sp>
      <p:sp>
        <p:nvSpPr>
          <p:cNvPr id="20" name="Shape 18"/>
          <p:cNvSpPr/>
          <p:nvPr/>
        </p:nvSpPr>
        <p:spPr>
          <a:xfrm>
            <a:off x="4389120" y="3474720"/>
            <a:ext cx="3383280" cy="1481328"/>
          </a:xfrm>
          <a:prstGeom prst="roundRect">
            <a:avLst>
              <a:gd name="adj" fmla="val 4938"/>
            </a:avLst>
          </a:prstGeom>
          <a:solidFill>
            <a:srgbClr val="FFFFFF">
              <a:alpha val="5000"/>
            </a:srgbClr>
          </a:solidFill>
          <a:ln w="17780">
            <a:solidFill>
              <a:srgbClr val="00A6A6"/>
            </a:solidFill>
            <a:prstDash val="solid"/>
          </a:ln>
        </p:spPr>
      </p:sp>
      <p:sp>
        <p:nvSpPr>
          <p:cNvPr id="21" name="Text 19"/>
          <p:cNvSpPr/>
          <p:nvPr/>
        </p:nvSpPr>
        <p:spPr>
          <a:xfrm>
            <a:off x="4553712" y="3621024"/>
            <a:ext cx="305409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05</a:t>
            </a:r>
            <a:endParaRPr lang="en-US" sz="1000" dirty="0"/>
          </a:p>
        </p:txBody>
      </p:sp>
      <p:sp>
        <p:nvSpPr>
          <p:cNvPr id="22" name="Text 20"/>
          <p:cNvSpPr/>
          <p:nvPr/>
        </p:nvSpPr>
        <p:spPr>
          <a:xfrm>
            <a:off x="4553712" y="3950208"/>
            <a:ext cx="3054096" cy="886968"/>
          </a:xfrm>
          <a:prstGeom prst="rect">
            <a:avLst/>
          </a:prstGeom>
          <a:noFill/>
          <a:ln/>
        </p:spPr>
        <p:txBody>
          <a:bodyPr wrap="square" lIns="0" tIns="0" rIns="0" bIns="0" rtlCol="0" anchor="ctr">
            <a:normAutofit/>
          </a:bodyPr>
          <a:lstStyle/>
          <a:p>
            <a:pPr indent="0" marL="0">
              <a:buNone/>
            </a:pPr>
            <a:r>
              <a:rPr lang="en-US" sz="1700" dirty="0">
                <a:solidFill>
                  <a:srgbClr val="FFFFFF"/>
                </a:solidFill>
              </a:rPr>
              <a:t>incidents</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23</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Procure capability</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23</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Data rights • interfaces • evidence • transfer • exit</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24</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Communicate uncertainty</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24</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Translate ranges into consequences, reversibility and next evidence</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25</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Build local capability</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25</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Training must map to named roles and real operating tasks</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26</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Manage variation</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26</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Controlled core with documented local extensions</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27</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Pause and decide</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27</a:t>
            </a:r>
            <a:endParaRPr lang="en-US" sz="900" dirty="0"/>
          </a:p>
        </p:txBody>
      </p:sp>
      <p:sp>
        <p:nvSpPr>
          <p:cNvPr id="8" name="Shape 6"/>
          <p:cNvSpPr/>
          <p:nvPr/>
        </p:nvSpPr>
        <p:spPr>
          <a:xfrm>
            <a:off x="777240" y="1874520"/>
            <a:ext cx="2487168" cy="2148840"/>
          </a:xfrm>
          <a:prstGeom prst="roundRect">
            <a:avLst>
              <a:gd name="adj" fmla="val 3404"/>
            </a:avLst>
          </a:prstGeom>
          <a:solidFill>
            <a:srgbClr val="FFFFFF">
              <a:alpha val="5000"/>
            </a:srgbClr>
          </a:solidFill>
          <a:ln w="17780">
            <a:solidFill>
              <a:srgbClr val="00A6A6"/>
            </a:solidFill>
            <a:prstDash val="solid"/>
          </a:ln>
        </p:spPr>
      </p:sp>
      <p:sp>
        <p:nvSpPr>
          <p:cNvPr id="9" name="Text 7"/>
          <p:cNvSpPr/>
          <p:nvPr/>
        </p:nvSpPr>
        <p:spPr>
          <a:xfrm>
            <a:off x="941832" y="2020824"/>
            <a:ext cx="2157984" cy="228600"/>
          </a:xfrm>
          <a:prstGeom prst="rect">
            <a:avLst/>
          </a:prstGeom>
          <a:noFill/>
          <a:ln/>
        </p:spPr>
        <p:txBody>
          <a:bodyPr wrap="square" lIns="0" tIns="0" rIns="0" bIns="0" rtlCol="0" anchor="ctr"/>
          <a:lstStyle/>
          <a:p>
            <a:pPr indent="0" marL="0">
              <a:buNone/>
            </a:pPr>
            <a:r>
              <a:rPr lang="en-US" sz="1000" b="1" spc="100" kern="0" dirty="0">
                <a:solidFill>
                  <a:srgbClr val="00A6A6"/>
                </a:solidFill>
              </a:rPr>
              <a:t>1</a:t>
            </a:r>
            <a:endParaRPr lang="en-US" sz="1000" dirty="0"/>
          </a:p>
        </p:txBody>
      </p:sp>
      <p:sp>
        <p:nvSpPr>
          <p:cNvPr id="10" name="Text 8"/>
          <p:cNvSpPr/>
          <p:nvPr/>
        </p:nvSpPr>
        <p:spPr>
          <a:xfrm>
            <a:off x="941832" y="2350008"/>
            <a:ext cx="2157984" cy="1554480"/>
          </a:xfrm>
          <a:prstGeom prst="rect">
            <a:avLst/>
          </a:prstGeom>
          <a:noFill/>
          <a:ln/>
        </p:spPr>
        <p:txBody>
          <a:bodyPr wrap="square" lIns="0" tIns="0" rIns="0" bIns="0" rtlCol="0" anchor="ctr">
            <a:normAutofit/>
          </a:bodyPr>
          <a:lstStyle/>
          <a:p>
            <a:pPr indent="0" marL="0">
              <a:buNone/>
            </a:pPr>
            <a:r>
              <a:rPr lang="en-US" sz="1700" dirty="0">
                <a:solidFill>
                  <a:srgbClr val="FFFFFF"/>
                </a:solidFill>
              </a:rPr>
              <a:t>SCALE</a:t>
            </a:r>
            <a:endParaRPr lang="en-US" sz="1700" dirty="0"/>
          </a:p>
        </p:txBody>
      </p:sp>
      <p:sp>
        <p:nvSpPr>
          <p:cNvPr id="11" name="Shape 9"/>
          <p:cNvSpPr/>
          <p:nvPr/>
        </p:nvSpPr>
        <p:spPr>
          <a:xfrm>
            <a:off x="3593592" y="1874520"/>
            <a:ext cx="2487168" cy="2148840"/>
          </a:xfrm>
          <a:prstGeom prst="roundRect">
            <a:avLst>
              <a:gd name="adj" fmla="val 3404"/>
            </a:avLst>
          </a:prstGeom>
          <a:solidFill>
            <a:srgbClr val="FFFFFF">
              <a:alpha val="5000"/>
            </a:srgbClr>
          </a:solidFill>
          <a:ln w="17780">
            <a:solidFill>
              <a:srgbClr val="00A6A6"/>
            </a:solidFill>
            <a:prstDash val="solid"/>
          </a:ln>
        </p:spPr>
      </p:sp>
      <p:sp>
        <p:nvSpPr>
          <p:cNvPr id="12" name="Text 10"/>
          <p:cNvSpPr/>
          <p:nvPr/>
        </p:nvSpPr>
        <p:spPr>
          <a:xfrm>
            <a:off x="3758184" y="2020824"/>
            <a:ext cx="2157984" cy="228600"/>
          </a:xfrm>
          <a:prstGeom prst="rect">
            <a:avLst/>
          </a:prstGeom>
          <a:noFill/>
          <a:ln/>
        </p:spPr>
        <p:txBody>
          <a:bodyPr wrap="square" lIns="0" tIns="0" rIns="0" bIns="0" rtlCol="0" anchor="ctr"/>
          <a:lstStyle/>
          <a:p>
            <a:pPr indent="0" marL="0">
              <a:buNone/>
            </a:pPr>
            <a:r>
              <a:rPr lang="en-US" sz="1000" b="1" spc="100" kern="0" dirty="0">
                <a:solidFill>
                  <a:srgbClr val="00A6A6"/>
                </a:solidFill>
              </a:rPr>
              <a:t>2</a:t>
            </a:r>
            <a:endParaRPr lang="en-US" sz="1000" dirty="0"/>
          </a:p>
        </p:txBody>
      </p:sp>
      <p:sp>
        <p:nvSpPr>
          <p:cNvPr id="13" name="Text 11"/>
          <p:cNvSpPr/>
          <p:nvPr/>
        </p:nvSpPr>
        <p:spPr>
          <a:xfrm>
            <a:off x="3758184" y="2350008"/>
            <a:ext cx="2157984" cy="1554480"/>
          </a:xfrm>
          <a:prstGeom prst="rect">
            <a:avLst/>
          </a:prstGeom>
          <a:noFill/>
          <a:ln/>
        </p:spPr>
        <p:txBody>
          <a:bodyPr wrap="square" lIns="0" tIns="0" rIns="0" bIns="0" rtlCol="0" anchor="ctr">
            <a:normAutofit/>
          </a:bodyPr>
          <a:lstStyle/>
          <a:p>
            <a:pPr indent="0" marL="0">
              <a:buNone/>
            </a:pPr>
            <a:r>
              <a:rPr lang="en-US" sz="1700" dirty="0">
                <a:solidFill>
                  <a:srgbClr val="FFFFFF"/>
                </a:solidFill>
              </a:rPr>
              <a:t>REDESIGN</a:t>
            </a:r>
            <a:endParaRPr lang="en-US" sz="1700" dirty="0"/>
          </a:p>
        </p:txBody>
      </p:sp>
      <p:sp>
        <p:nvSpPr>
          <p:cNvPr id="14" name="Shape 12"/>
          <p:cNvSpPr/>
          <p:nvPr/>
        </p:nvSpPr>
        <p:spPr>
          <a:xfrm>
            <a:off x="6409944" y="1874520"/>
            <a:ext cx="2487168" cy="2148840"/>
          </a:xfrm>
          <a:prstGeom prst="roundRect">
            <a:avLst>
              <a:gd name="adj" fmla="val 3404"/>
            </a:avLst>
          </a:prstGeom>
          <a:solidFill>
            <a:srgbClr val="FFFFFF">
              <a:alpha val="5000"/>
            </a:srgbClr>
          </a:solidFill>
          <a:ln w="17780">
            <a:solidFill>
              <a:srgbClr val="E8A317"/>
            </a:solidFill>
            <a:prstDash val="solid"/>
          </a:ln>
        </p:spPr>
      </p:sp>
      <p:sp>
        <p:nvSpPr>
          <p:cNvPr id="15" name="Text 13"/>
          <p:cNvSpPr/>
          <p:nvPr/>
        </p:nvSpPr>
        <p:spPr>
          <a:xfrm>
            <a:off x="6574536" y="2020824"/>
            <a:ext cx="2157984" cy="228600"/>
          </a:xfrm>
          <a:prstGeom prst="rect">
            <a:avLst/>
          </a:prstGeom>
          <a:noFill/>
          <a:ln/>
        </p:spPr>
        <p:txBody>
          <a:bodyPr wrap="square" lIns="0" tIns="0" rIns="0" bIns="0" rtlCol="0" anchor="ctr"/>
          <a:lstStyle/>
          <a:p>
            <a:pPr indent="0" marL="0">
              <a:buNone/>
            </a:pPr>
            <a:r>
              <a:rPr lang="en-US" sz="1000" b="1" spc="100" kern="0" dirty="0">
                <a:solidFill>
                  <a:srgbClr val="E8A317"/>
                </a:solidFill>
              </a:rPr>
              <a:t>3</a:t>
            </a:r>
            <a:endParaRPr lang="en-US" sz="1000" dirty="0"/>
          </a:p>
        </p:txBody>
      </p:sp>
      <p:sp>
        <p:nvSpPr>
          <p:cNvPr id="16" name="Text 14"/>
          <p:cNvSpPr/>
          <p:nvPr/>
        </p:nvSpPr>
        <p:spPr>
          <a:xfrm>
            <a:off x="6574536" y="2350008"/>
            <a:ext cx="2157984" cy="1554480"/>
          </a:xfrm>
          <a:prstGeom prst="rect">
            <a:avLst/>
          </a:prstGeom>
          <a:noFill/>
          <a:ln/>
        </p:spPr>
        <p:txBody>
          <a:bodyPr wrap="square" lIns="0" tIns="0" rIns="0" bIns="0" rtlCol="0" anchor="ctr">
            <a:normAutofit/>
          </a:bodyPr>
          <a:lstStyle/>
          <a:p>
            <a:pPr indent="0" marL="0">
              <a:buNone/>
            </a:pPr>
            <a:r>
              <a:rPr lang="en-US" sz="1700" dirty="0">
                <a:solidFill>
                  <a:srgbClr val="FFFFFF"/>
                </a:solidFill>
              </a:rPr>
              <a:t>DEFER</a:t>
            </a:r>
            <a:endParaRPr lang="en-US" sz="1700" dirty="0"/>
          </a:p>
        </p:txBody>
      </p:sp>
      <p:sp>
        <p:nvSpPr>
          <p:cNvPr id="17" name="Shape 15"/>
          <p:cNvSpPr/>
          <p:nvPr/>
        </p:nvSpPr>
        <p:spPr>
          <a:xfrm>
            <a:off x="9226296" y="1874520"/>
            <a:ext cx="2487168" cy="2148840"/>
          </a:xfrm>
          <a:prstGeom prst="roundRect">
            <a:avLst>
              <a:gd name="adj" fmla="val 3404"/>
            </a:avLst>
          </a:prstGeom>
          <a:solidFill>
            <a:srgbClr val="FFFFFF">
              <a:alpha val="5000"/>
            </a:srgbClr>
          </a:solidFill>
          <a:ln w="17780">
            <a:solidFill>
              <a:srgbClr val="E8A317"/>
            </a:solidFill>
            <a:prstDash val="solid"/>
          </a:ln>
        </p:spPr>
      </p:sp>
      <p:sp>
        <p:nvSpPr>
          <p:cNvPr id="18" name="Text 16"/>
          <p:cNvSpPr/>
          <p:nvPr/>
        </p:nvSpPr>
        <p:spPr>
          <a:xfrm>
            <a:off x="9390888" y="2020824"/>
            <a:ext cx="2157984" cy="228600"/>
          </a:xfrm>
          <a:prstGeom prst="rect">
            <a:avLst/>
          </a:prstGeom>
          <a:noFill/>
          <a:ln/>
        </p:spPr>
        <p:txBody>
          <a:bodyPr wrap="square" lIns="0" tIns="0" rIns="0" bIns="0" rtlCol="0" anchor="ctr"/>
          <a:lstStyle/>
          <a:p>
            <a:pPr indent="0" marL="0">
              <a:buNone/>
            </a:pPr>
            <a:r>
              <a:rPr lang="en-US" sz="1000" b="1" spc="100" kern="0" dirty="0">
                <a:solidFill>
                  <a:srgbClr val="E8A317"/>
                </a:solidFill>
              </a:rPr>
              <a:t>4</a:t>
            </a:r>
            <a:endParaRPr lang="en-US" sz="1000" dirty="0"/>
          </a:p>
        </p:txBody>
      </p:sp>
      <p:sp>
        <p:nvSpPr>
          <p:cNvPr id="19" name="Text 17"/>
          <p:cNvSpPr/>
          <p:nvPr/>
        </p:nvSpPr>
        <p:spPr>
          <a:xfrm>
            <a:off x="9390888" y="2350008"/>
            <a:ext cx="2157984" cy="1554480"/>
          </a:xfrm>
          <a:prstGeom prst="rect">
            <a:avLst/>
          </a:prstGeom>
          <a:noFill/>
          <a:ln/>
        </p:spPr>
        <p:txBody>
          <a:bodyPr wrap="square" lIns="0" tIns="0" rIns="0" bIns="0" rtlCol="0" anchor="ctr">
            <a:normAutofit/>
          </a:bodyPr>
          <a:lstStyle/>
          <a:p>
            <a:pPr indent="0" marL="0">
              <a:buNone/>
            </a:pPr>
            <a:r>
              <a:rPr lang="en-US" sz="1700" dirty="0">
                <a:solidFill>
                  <a:srgbClr val="FFFFFF"/>
                </a:solidFill>
              </a:rPr>
              <a:t>STOP</a:t>
            </a:r>
            <a:endParaRPr lang="en-US" sz="1700" dirty="0"/>
          </a:p>
        </p:txBody>
      </p:sp>
      <p:sp>
        <p:nvSpPr>
          <p:cNvPr id="20" name="Text 18"/>
          <p:cNvSpPr/>
          <p:nvPr/>
        </p:nvSpPr>
        <p:spPr>
          <a:xfrm>
            <a:off x="914400" y="4617720"/>
            <a:ext cx="10241280" cy="640080"/>
          </a:xfrm>
          <a:prstGeom prst="rect">
            <a:avLst/>
          </a:prstGeom>
          <a:noFill/>
          <a:ln/>
        </p:spPr>
        <p:txBody>
          <a:bodyPr wrap="square" lIns="0" tIns="0" rIns="0" bIns="0" rtlCol="0" anchor="ctr"/>
          <a:lstStyle/>
          <a:p>
            <a:pPr algn="ctr" indent="0" marL="0">
              <a:buNone/>
            </a:pPr>
            <a:r>
              <a:rPr lang="en-US" sz="2000" dirty="0">
                <a:solidFill>
                  <a:srgbClr val="FFFFFF"/>
                </a:solidFill>
              </a:rPr>
              <a:t>Choose one decision. Name one decisive piece of evidence and one accountable owner.</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28</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Answers and reasoning</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28</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Strong answers expose assumptions, evidence, consequences and authority</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29</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Laboratory challenge</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29</a:t>
            </a:r>
            <a:endParaRPr lang="en-US" sz="900" dirty="0"/>
          </a:p>
        </p:txBody>
      </p:sp>
      <p:sp>
        <p:nvSpPr>
          <p:cNvPr id="8" name="Shape 6"/>
          <p:cNvSpPr/>
          <p:nvPr/>
        </p:nvSpPr>
        <p:spPr>
          <a:xfrm>
            <a:off x="685800" y="1600200"/>
            <a:ext cx="3383280" cy="3017520"/>
          </a:xfrm>
          <a:prstGeom prst="roundRect">
            <a:avLst>
              <a:gd name="adj" fmla="val 2424"/>
            </a:avLst>
          </a:prstGeom>
          <a:solidFill>
            <a:srgbClr val="FFFFFF">
              <a:alpha val="5000"/>
            </a:srgbClr>
          </a:solidFill>
          <a:ln w="17780">
            <a:solidFill>
              <a:srgbClr val="00A6A6"/>
            </a:solidFill>
            <a:prstDash val="solid"/>
          </a:ln>
        </p:spPr>
      </p:sp>
      <p:sp>
        <p:nvSpPr>
          <p:cNvPr id="9" name="Text 7"/>
          <p:cNvSpPr/>
          <p:nvPr/>
        </p:nvSpPr>
        <p:spPr>
          <a:xfrm>
            <a:off x="850392" y="1746504"/>
            <a:ext cx="305409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01</a:t>
            </a:r>
            <a:endParaRPr lang="en-US" sz="1000" dirty="0"/>
          </a:p>
        </p:txBody>
      </p:sp>
      <p:sp>
        <p:nvSpPr>
          <p:cNvPr id="10" name="Text 8"/>
          <p:cNvSpPr/>
          <p:nvPr/>
        </p:nvSpPr>
        <p:spPr>
          <a:xfrm>
            <a:off x="850392" y="2075688"/>
            <a:ext cx="3054096" cy="2423160"/>
          </a:xfrm>
          <a:prstGeom prst="rect">
            <a:avLst/>
          </a:prstGeom>
          <a:noFill/>
          <a:ln/>
        </p:spPr>
        <p:txBody>
          <a:bodyPr wrap="square" lIns="0" tIns="0" rIns="0" bIns="0" rtlCol="0" anchor="ctr">
            <a:normAutofit/>
          </a:bodyPr>
          <a:lstStyle/>
          <a:p>
            <a:pPr indent="0" marL="0">
              <a:buNone/>
            </a:pPr>
            <a:r>
              <a:rPr lang="en-US" sz="1700" dirty="0">
                <a:solidFill>
                  <a:srgbClr val="FFFFFF"/>
                </a:solidFill>
              </a:rPr>
              <a:t>Score readiness</a:t>
            </a:r>
            <a:endParaRPr lang="en-US" sz="1700" dirty="0"/>
          </a:p>
        </p:txBody>
      </p:sp>
      <p:sp>
        <p:nvSpPr>
          <p:cNvPr id="11" name="Shape 9"/>
          <p:cNvSpPr/>
          <p:nvPr/>
        </p:nvSpPr>
        <p:spPr>
          <a:xfrm>
            <a:off x="4407408" y="1600200"/>
            <a:ext cx="3383280" cy="3017520"/>
          </a:xfrm>
          <a:prstGeom prst="roundRect">
            <a:avLst>
              <a:gd name="adj" fmla="val 2424"/>
            </a:avLst>
          </a:prstGeom>
          <a:solidFill>
            <a:srgbClr val="FFFFFF">
              <a:alpha val="5000"/>
            </a:srgbClr>
          </a:solidFill>
          <a:ln w="17780">
            <a:solidFill>
              <a:srgbClr val="E8A317"/>
            </a:solidFill>
            <a:prstDash val="solid"/>
          </a:ln>
        </p:spPr>
      </p:sp>
      <p:sp>
        <p:nvSpPr>
          <p:cNvPr id="12" name="Text 10"/>
          <p:cNvSpPr/>
          <p:nvPr/>
        </p:nvSpPr>
        <p:spPr>
          <a:xfrm>
            <a:off x="4572000" y="1746504"/>
            <a:ext cx="3054096" cy="228600"/>
          </a:xfrm>
          <a:prstGeom prst="rect">
            <a:avLst/>
          </a:prstGeom>
          <a:noFill/>
          <a:ln/>
        </p:spPr>
        <p:txBody>
          <a:bodyPr wrap="square" lIns="0" tIns="0" rIns="0" bIns="0" rtlCol="0" anchor="ctr"/>
          <a:lstStyle/>
          <a:p>
            <a:pPr indent="0" marL="0">
              <a:buNone/>
            </a:pPr>
            <a:r>
              <a:rPr lang="en-US" sz="1000" b="1" spc="100" kern="0" dirty="0">
                <a:solidFill>
                  <a:srgbClr val="E8A317"/>
                </a:solidFill>
              </a:rPr>
              <a:t>02</a:t>
            </a:r>
            <a:endParaRPr lang="en-US" sz="1000" dirty="0"/>
          </a:p>
        </p:txBody>
      </p:sp>
      <p:sp>
        <p:nvSpPr>
          <p:cNvPr id="13" name="Text 11"/>
          <p:cNvSpPr/>
          <p:nvPr/>
        </p:nvSpPr>
        <p:spPr>
          <a:xfrm>
            <a:off x="4572000" y="2075688"/>
            <a:ext cx="3054096" cy="2423160"/>
          </a:xfrm>
          <a:prstGeom prst="rect">
            <a:avLst/>
          </a:prstGeom>
          <a:noFill/>
          <a:ln/>
        </p:spPr>
        <p:txBody>
          <a:bodyPr wrap="square" lIns="0" tIns="0" rIns="0" bIns="0" rtlCol="0" anchor="ctr">
            <a:normAutofit/>
          </a:bodyPr>
          <a:lstStyle/>
          <a:p>
            <a:pPr indent="0" marL="0">
              <a:buNone/>
            </a:pPr>
            <a:r>
              <a:rPr lang="en-US" sz="1700" dirty="0">
                <a:solidFill>
                  <a:srgbClr val="FFFFFF"/>
                </a:solidFill>
              </a:rPr>
              <a:t>Stress-test priorities</a:t>
            </a:r>
            <a:endParaRPr lang="en-US" sz="1700" dirty="0"/>
          </a:p>
        </p:txBody>
      </p:sp>
      <p:sp>
        <p:nvSpPr>
          <p:cNvPr id="14" name="Shape 12"/>
          <p:cNvSpPr/>
          <p:nvPr/>
        </p:nvSpPr>
        <p:spPr>
          <a:xfrm>
            <a:off x="8138160" y="1600200"/>
            <a:ext cx="3383280" cy="3017520"/>
          </a:xfrm>
          <a:prstGeom prst="roundRect">
            <a:avLst>
              <a:gd name="adj" fmla="val 2424"/>
            </a:avLst>
          </a:prstGeom>
          <a:solidFill>
            <a:srgbClr val="FFFFFF">
              <a:alpha val="5000"/>
            </a:srgbClr>
          </a:solidFill>
          <a:ln w="17780">
            <a:solidFill>
              <a:srgbClr val="00A6A6"/>
            </a:solidFill>
            <a:prstDash val="solid"/>
          </a:ln>
        </p:spPr>
      </p:sp>
      <p:sp>
        <p:nvSpPr>
          <p:cNvPr id="15" name="Text 13"/>
          <p:cNvSpPr/>
          <p:nvPr/>
        </p:nvSpPr>
        <p:spPr>
          <a:xfrm>
            <a:off x="8302752" y="1746504"/>
            <a:ext cx="3054096" cy="228600"/>
          </a:xfrm>
          <a:prstGeom prst="rect">
            <a:avLst/>
          </a:prstGeom>
          <a:noFill/>
          <a:ln/>
        </p:spPr>
        <p:txBody>
          <a:bodyPr wrap="square" lIns="0" tIns="0" rIns="0" bIns="0" rtlCol="0" anchor="ctr"/>
          <a:lstStyle/>
          <a:p>
            <a:pPr indent="0" marL="0">
              <a:buNone/>
            </a:pPr>
            <a:r>
              <a:rPr lang="en-US" sz="1000" b="1" spc="100" kern="0" dirty="0">
                <a:solidFill>
                  <a:srgbClr val="00A6A6"/>
                </a:solidFill>
              </a:rPr>
              <a:t>03</a:t>
            </a:r>
            <a:endParaRPr lang="en-US" sz="1000" dirty="0"/>
          </a:p>
        </p:txBody>
      </p:sp>
      <p:sp>
        <p:nvSpPr>
          <p:cNvPr id="16" name="Text 14"/>
          <p:cNvSpPr/>
          <p:nvPr/>
        </p:nvSpPr>
        <p:spPr>
          <a:xfrm>
            <a:off x="8302752" y="2075688"/>
            <a:ext cx="3054096" cy="2423160"/>
          </a:xfrm>
          <a:prstGeom prst="rect">
            <a:avLst/>
          </a:prstGeom>
          <a:noFill/>
          <a:ln/>
        </p:spPr>
        <p:txBody>
          <a:bodyPr wrap="square" lIns="0" tIns="0" rIns="0" bIns="0" rtlCol="0" anchor="ctr">
            <a:normAutofit/>
          </a:bodyPr>
          <a:lstStyle/>
          <a:p>
            <a:pPr indent="0" marL="0">
              <a:buNone/>
            </a:pPr>
            <a:r>
              <a:rPr lang="en-US" sz="1700" dirty="0">
                <a:solidFill>
                  <a:srgbClr val="FFFFFF"/>
                </a:solidFill>
              </a:rPr>
              <a:t>Export a decision record</a:t>
            </a:r>
            <a:endParaRPr lang="en-US" sz="1700" dirty="0"/>
          </a:p>
        </p:txBody>
      </p:sp>
      <p:sp>
        <p:nvSpPr>
          <p:cNvPr id="17" name="Text 15"/>
          <p:cNvSpPr/>
          <p:nvPr/>
        </p:nvSpPr>
        <p:spPr>
          <a:xfrm>
            <a:off x="1005840" y="5074920"/>
            <a:ext cx="10241280" cy="411480"/>
          </a:xfrm>
          <a:prstGeom prst="rect">
            <a:avLst/>
          </a:prstGeom>
          <a:noFill/>
          <a:ln/>
        </p:spPr>
        <p:txBody>
          <a:bodyPr wrap="square" lIns="0" tIns="0" rIns="0" bIns="0" rtlCol="0" anchor="ctr"/>
          <a:lstStyle/>
          <a:p>
            <a:pPr algn="ctr" indent="0" marL="0">
              <a:buNone/>
            </a:pPr>
            <a:r>
              <a:rPr lang="en-US" sz="1800" dirty="0">
                <a:solidFill>
                  <a:srgbClr val="B8C5D1"/>
                </a:solidFill>
              </a:rPr>
              <a:t>Synthetic data • transparent assumptions • reproducible outputs</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7365D"/>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A6A6"/>
          </a:solidFill>
          <a:ln w="12700">
            <a:solidFill>
              <a:srgbClr val="00A6A6"/>
            </a:solidFill>
            <a:prstDash val="solid"/>
          </a:ln>
        </p:spPr>
      </p:sp>
      <p:sp>
        <p:nvSpPr>
          <p:cNvPr id="3" name="Text 1"/>
          <p:cNvSpPr/>
          <p:nvPr/>
        </p:nvSpPr>
        <p:spPr>
          <a:xfrm>
            <a:off x="566928" y="274320"/>
            <a:ext cx="3749040" cy="256032"/>
          </a:xfrm>
          <a:prstGeom prst="rect">
            <a:avLst/>
          </a:prstGeom>
          <a:noFill/>
          <a:ln/>
        </p:spPr>
        <p:txBody>
          <a:bodyPr wrap="square" lIns="0" tIns="0" rIns="0" bIns="0" rtlCol="0" anchor="ctr"/>
          <a:lstStyle/>
          <a:p>
            <a:pPr indent="0" marL="0">
              <a:buNone/>
            </a:pPr>
            <a:r>
              <a:rPr lang="en-US" sz="1100" b="1" dirty="0">
                <a:solidFill>
                  <a:srgbClr val="00A6A6"/>
                </a:solidFill>
                <a:latin typeface="Aptos" pitchFamily="34" charset="0"/>
                <a:ea typeface="Aptos" pitchFamily="34" charset="-122"/>
                <a:cs typeface="Aptos" pitchFamily="34" charset="-120"/>
              </a:rPr>
              <a:t>SRAI  |  PU-B09-C01  |  30</a:t>
            </a:r>
            <a:endParaRPr lang="en-US" sz="1100" dirty="0"/>
          </a:p>
        </p:txBody>
      </p:sp>
      <p:sp>
        <p:nvSpPr>
          <p:cNvPr id="4" name="Text 2"/>
          <p:cNvSpPr/>
          <p:nvPr/>
        </p:nvSpPr>
        <p:spPr>
          <a:xfrm>
            <a:off x="566928" y="749808"/>
            <a:ext cx="10972800" cy="59436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Executive close</a:t>
            </a:r>
            <a:endParaRPr lang="en-US" sz="2800" dirty="0"/>
          </a:p>
        </p:txBody>
      </p:sp>
      <p:sp>
        <p:nvSpPr>
          <p:cNvPr id="5" name="Shape 3"/>
          <p:cNvSpPr/>
          <p:nvPr/>
        </p:nvSpPr>
        <p:spPr>
          <a:xfrm>
            <a:off x="566928" y="6492240"/>
            <a:ext cx="11018520" cy="0"/>
          </a:xfrm>
          <a:prstGeom prst="line">
            <a:avLst/>
          </a:prstGeom>
          <a:noFill/>
          <a:ln w="12700">
            <a:solidFill>
              <a:srgbClr val="00A6A6"/>
            </a:solidFill>
            <a:prstDash val="solid"/>
          </a:ln>
        </p:spPr>
      </p:sp>
      <p:sp>
        <p:nvSpPr>
          <p:cNvPr id="6" name="Text 4"/>
          <p:cNvSpPr/>
          <p:nvPr/>
        </p:nvSpPr>
        <p:spPr>
          <a:xfrm>
            <a:off x="566928" y="6556248"/>
            <a:ext cx="5852160" cy="164592"/>
          </a:xfrm>
          <a:prstGeom prst="rect">
            <a:avLst/>
          </a:prstGeom>
          <a:noFill/>
          <a:ln/>
        </p:spPr>
        <p:txBody>
          <a:bodyPr wrap="square" lIns="0" tIns="0" rIns="0" bIns="0" rtlCol="0" anchor="ctr"/>
          <a:lstStyle/>
          <a:p>
            <a:pPr indent="0" marL="0">
              <a:buNone/>
            </a:pPr>
            <a:r>
              <a:rPr lang="en-US" sz="900" dirty="0">
                <a:solidFill>
                  <a:srgbClr val="B8C5D1"/>
                </a:solidFill>
              </a:rPr>
              <a:t>Book 9  •  AI Transformation and Executive Leadership</a:t>
            </a:r>
            <a:endParaRPr lang="en-US" sz="900" dirty="0"/>
          </a:p>
        </p:txBody>
      </p:sp>
      <p:sp>
        <p:nvSpPr>
          <p:cNvPr id="7" name="Text 5"/>
          <p:cNvSpPr/>
          <p:nvPr/>
        </p:nvSpPr>
        <p:spPr>
          <a:xfrm>
            <a:off x="11201400" y="6537960"/>
            <a:ext cx="365760" cy="164592"/>
          </a:xfrm>
          <a:prstGeom prst="rect">
            <a:avLst/>
          </a:prstGeom>
          <a:noFill/>
          <a:ln/>
        </p:spPr>
        <p:txBody>
          <a:bodyPr wrap="square" lIns="0" tIns="0" rIns="0" bIns="0" rtlCol="0" anchor="ctr"/>
          <a:lstStyle/>
          <a:p>
            <a:pPr algn="r" indent="0" marL="0">
              <a:buNone/>
            </a:pPr>
            <a:r>
              <a:rPr lang="en-US" sz="900" dirty="0">
                <a:solidFill>
                  <a:srgbClr val="B8C5D1"/>
                </a:solidFill>
              </a:rPr>
              <a:t>30</a:t>
            </a:r>
            <a:endParaRPr lang="en-US" sz="900" dirty="0"/>
          </a:p>
        </p:txBody>
      </p:sp>
      <p:sp>
        <p:nvSpPr>
          <p:cNvPr id="8" name="Text 6"/>
          <p:cNvSpPr/>
          <p:nvPr/>
        </p:nvSpPr>
        <p:spPr>
          <a:xfrm>
            <a:off x="914400" y="1874520"/>
            <a:ext cx="10332720" cy="2103120"/>
          </a:xfrm>
          <a:prstGeom prst="rect">
            <a:avLst/>
          </a:prstGeom>
          <a:noFill/>
          <a:ln/>
        </p:spPr>
        <p:txBody>
          <a:bodyPr wrap="square" lIns="635" tIns="635" rIns="635" bIns="635" rtlCol="0" anchor="ctr">
            <a:normAutofit/>
          </a:bodyPr>
          <a:lstStyle/>
          <a:p>
            <a:pPr algn="ctr" indent="0" marL="0">
              <a:buNone/>
            </a:pPr>
            <a:r>
              <a:rPr lang="en-US" sz="2900" b="1" dirty="0">
                <a:solidFill>
                  <a:srgbClr val="FFFFFF"/>
                </a:solidFill>
              </a:rPr>
              <a:t>Fund evidence-backed value. Preserve human authority. Stop weak initiatives.</a:t>
            </a:r>
            <a:endParaRPr lang="en-US" sz="2900" dirty="0"/>
          </a:p>
        </p:txBody>
      </p:sp>
      <p:sp>
        <p:nvSpPr>
          <p:cNvPr id="9" name="Shape 7"/>
          <p:cNvSpPr/>
          <p:nvPr/>
        </p:nvSpPr>
        <p:spPr>
          <a:xfrm>
            <a:off x="3337560" y="4315968"/>
            <a:ext cx="5532120" cy="0"/>
          </a:xfrm>
          <a:prstGeom prst="line">
            <a:avLst/>
          </a:prstGeom>
          <a:noFill/>
          <a:ln w="50800">
            <a:solidFill>
              <a:srgbClr val="E8A317"/>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SRAI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Strategy and Transformation</dc:title>
  <dc:subject>SRAI Book 9 Lesson 1</dc:subject>
  <dc:creator>Mbaye Kebe</dc:creator>
  <cp:lastModifiedBy>Mbaye Kebe</cp:lastModifiedBy>
  <cp:revision>1</cp:revision>
  <dcterms:created xsi:type="dcterms:W3CDTF">2026-09-09T13:23:26Z</dcterms:created>
  <dcterms:modified xsi:type="dcterms:W3CDTF">2026-09-09T13:23:26Z</dcterms:modified>
</cp:coreProperties>
</file>