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 AI Strategy and Transformation. Explain that from ambition to accountable institutional decisions.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 The executive question. Explain that where should the institution use ai—and where should it not?.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 Learning outcomes. Explain that frame a transformation thesis
assess readiness
prioritize a governed portfolio
sequence delivery through evidence gates.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4. AI strategy is a choice system. Explain that mission • evidence • capability • safeguards • value.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5. Start with the mandate. Explain that name the public or organizational outcome before naming the technology.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 Define the decision. Explain that user, action, timing, evidence and accountability.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7. Write the transformation thesis. Explain that if we change capability and workflow, then a measurable outcome should improve.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8. Compare simpler alternatives. Explain that workflow redesign • rules • reporting • conventional analytics • ai.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9. Readiness is use-case specific. Explain that governance • data • people • technology • finance • operations.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10. The weakest dimension can bind. Explain that averages can hide a missing authority, unsafe dataset or absent operator.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11. Experience case 1. Explain that agricultural census modernization: definitions and field governance precede analytics. Connect this point to Mbaye Kebe’s consulting practice while stating clearly that the historical assignment is a source of transferable institutional lessons, not a claimed AI deployment.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12. Experience case 2. Explain that agricultural information warehouse: integration is institutional work. Connect this point to Mbaye Kebe’s consulting practice while stating clearly that the historical assignment is a source of transferable institutional lessons, not a claimed AI deployment.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13. Experience case 3. Explain that results-based monitoring: indicators must trigger accountable action. Connect this point to Mbaye Kebe’s consulting practice while stating clearly that the historical assignment is a source of transferable institutional lessons, not a claimed AI deployment.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14. Experience case 4. Explain that food-loss modelling: uncertainty requires field validation. Connect this point to Mbaye Kebe’s consulting practice while stating clearly that the historical assignment is a source of transferable institutional lessons, not a claimed AI deployment.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15. Build the opportunity portfolio. Explain that value • feasibility • evidence confidence • urgency • learning value.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16. Keep gates separate from scores. Explain that benefits cannot offset failed legality, privacy, safety or oversight.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17. Test sensitivity. Explain that ask whether the recommendation survives plausible changes in priorities.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18. Record the decision. Explain that decision • evidence • conditions • owner • review date • stopping rule.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19. Design the operating model. Explain that outcome owner • data steward • technical owner • risk owner • adoption lead.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20. Sequence dependencies. Explain that foundations before scale; validation before operational reliance.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21. Pilot the operating model. Explain that test roles, controls, monitoring and escalation—not only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22. Measure transformation value. Explain that adoption • outcome • equity • cost • incidents.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23. Procure capability. Explain that data rights • interfaces • evidence • transfer • exit.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24. Communicate uncertainty. Explain that translate ranges into consequences, reversibility and next evidence.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25. Build local capability. Explain that training must map to named roles and real operating tasks.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26. Manage variation. Explain that controlled core with documented local extensions.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27. Pause and decide. Explain that which initiative would you scale, redesign, defer or stop?. Pause for sixty seconds and ask the audience to choose one of four decisions: scale, redesign, defer or stop. Require one piece of evidence and one accountable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28. Answers and reasoning. Explain that strong answers expose assumptions, evidence, consequences and authority. Reveal the reasoning standard: assumptions, evidence, consequences and authority. There may be more than one defensible decision, but unsupported confidence is not acceptable.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29. Laboratory challenge. Explain that use the notebook to score, stress-test and record a portfolio decision. Open the companion notebook. Run the readiness profile, portfolio score, sensitivity analysis and decision-record export. Use synthetic data and explain each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30. Executive close. Explain that fund evidence-backed value. preserve human authority. stop weak initiatives..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 STRATEGY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AND TRANSFORMATION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58368" y="340156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A317"/>
                </a:solidFill>
              </a:rPr>
              <a:t>From ambition to accountable institutional decisions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8368" y="4709160"/>
            <a:ext cx="2011680" cy="65836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MISSION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90088" y="4709160"/>
            <a:ext cx="2011680" cy="658368"/>
          </a:xfrm>
          <a:prstGeom prst="round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EVIDENCE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21808" y="4709160"/>
            <a:ext cx="2011680" cy="65836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AUTHORITY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4709160"/>
            <a:ext cx="2011680" cy="658368"/>
          </a:xfrm>
          <a:prstGeom prst="round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VALUE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executive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Where should the institution use AI—and where should it not?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1481328"/>
            <a:ext cx="105613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627632"/>
            <a:ext cx="1023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9264" y="1956816"/>
            <a:ext cx="10232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Frame a transformation thesis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" y="2322576"/>
            <a:ext cx="105613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468880"/>
            <a:ext cx="1023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" y="2798064"/>
            <a:ext cx="10232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Assess readiness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672" y="3163824"/>
            <a:ext cx="105613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310128"/>
            <a:ext cx="1023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9264" y="3639312"/>
            <a:ext cx="10232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Prioritize a governed portfolio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4672" y="4005072"/>
            <a:ext cx="1056132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4151376"/>
            <a:ext cx="10232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9264" y="4480560"/>
            <a:ext cx="10232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Sequence delivery through evidence gates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strategy is a choice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Mission • evidence • capability • safeguards • value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the mandate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Name the public or organizational outcome before naming the technology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the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User, action, timing, evidence and accountability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the transformation thesis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If we change capability and workflow, then a measurable outcome should improve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simpler alternatives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Workflow redesign • rules • reporting • conventional analytics • AI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Readiness is use-case specific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Governance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data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275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people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technology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finance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13816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0275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operations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weakest dimension can bind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Averages can hide a missing authority, unsafe dataset or absent operator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case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743200" cy="3474720"/>
          </a:xfrm>
          <a:prstGeom prst="roundRect">
            <a:avLst/>
          </a:prstGeom>
          <a:solidFill>
            <a:srgbClr val="00A6A6">
              <a:alpha val="18000"/>
            </a:srgbClr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CASE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1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379476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Agricultural census modernization: definitions and field governance precede analytics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94760" y="41605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1"/>
                </a:solidFill>
              </a:rPr>
              <a:t>Transfer the institutional lesson—not a claim of historical AI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case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743200" cy="3474720"/>
          </a:xfrm>
          <a:prstGeom prst="roundRect">
            <a:avLst/>
          </a:prstGeom>
          <a:solidFill>
            <a:srgbClr val="00A6A6">
              <a:alpha val="18000"/>
            </a:srgbClr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CASE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2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379476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Agricultural information warehouse: integration is institutional work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94760" y="41605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1"/>
                </a:solidFill>
              </a:rPr>
              <a:t>Transfer the institutional lesson—not a claim of historical AI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case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743200" cy="3474720"/>
          </a:xfrm>
          <a:prstGeom prst="roundRect">
            <a:avLst/>
          </a:prstGeom>
          <a:solidFill>
            <a:srgbClr val="00A6A6">
              <a:alpha val="18000"/>
            </a:srgbClr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CASE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3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379476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Results-based monitoring: indicators must trigger accountable action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94760" y="41605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1"/>
                </a:solidFill>
              </a:rPr>
              <a:t>Transfer the institutional lesson—not a claim of historical AI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case 4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743200" cy="3474720"/>
          </a:xfrm>
          <a:prstGeom prst="roundRect">
            <a:avLst/>
          </a:prstGeom>
          <a:solidFill>
            <a:srgbClr val="00A6A6">
              <a:alpha val="18000"/>
            </a:srgbClr>
          </a:solidFill>
          <a:ln w="254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48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CASE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E8A317"/>
                </a:solidFill>
              </a:rPr>
              <a:t>4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379476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Food-loss modelling: uncertainty requires field validation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794760" y="41605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1"/>
                </a:solidFill>
              </a:rPr>
              <a:t>Transfer the institutional lesson—not a claim of historical AI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opportunity portfolio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Value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feasibility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275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evidence confidence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urgency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learning value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gates separate from scores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6A6"/>
                </a:solidFill>
              </a:rPr>
              <a:t>WEIGHTED SCORE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Strategic value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Feasibility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Evidence confidence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Urgency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Learning value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2834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17"/>
                </a:solidFill>
              </a:rPr>
              <a:t>≠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62940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17"/>
                </a:solidFill>
              </a:rPr>
              <a:t>MANDATORY GATES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2267712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Legality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Privacy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Safety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FFFFFF"/>
                </a:solidFill>
              </a:rPr>
              <a:t>Human authority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sensitivity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Ask whether the recommendation survives plausible changes in priorities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Record the decision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Decision • evidence • conditions • owner • review date • stopping rule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19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the operating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Outcome owner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data steward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275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technical owner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risk owner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adoption lead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dependencies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1993392" cy="1234440"/>
          </a:xfrm>
          <a:prstGeom prst="chevron">
            <a:avLst/>
          </a:prstGeom>
          <a:solidFill>
            <a:srgbClr val="E8A317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807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DEFINE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0" y="2331720"/>
            <a:ext cx="1993392" cy="123444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807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AUTHORIZE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93792" y="2331720"/>
            <a:ext cx="1993392" cy="1234440"/>
          </a:xfrm>
          <a:prstGeom prst="chevron">
            <a:avLst/>
          </a:prstGeom>
          <a:solidFill>
            <a:srgbClr val="E8A317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807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PILOT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61504" y="2331720"/>
            <a:ext cx="1993392" cy="1234440"/>
          </a:xfrm>
          <a:prstGeom prst="chevron">
            <a:avLst/>
          </a:prstGeom>
          <a:solidFill>
            <a:srgbClr val="00A6A6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07224" y="2807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VALIDATE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29216" y="2331720"/>
            <a:ext cx="1993392" cy="1234440"/>
          </a:xfrm>
          <a:prstGeom prst="chevron">
            <a:avLst/>
          </a:prstGeom>
          <a:solidFill>
            <a:srgbClr val="E8A317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4936" y="2807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43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Each transition requires evidence, authority and a recorded condition.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 the operating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Test roles, controls, monitoring and escalation—not only the model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 transformation value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Adoption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outcome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2752" y="207568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equity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cost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89120" y="3474720"/>
            <a:ext cx="3383280" cy="1481328"/>
          </a:xfrm>
          <a:prstGeom prst="roundRect">
            <a:avLst>
              <a:gd name="adj" fmla="val 4938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6210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950208"/>
            <a:ext cx="305409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incidents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 capability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Data rights • interfaces • evidence • transfer • exit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Communicate uncertainty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Translate ranges into consequences, reversibility and next evidence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local capability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Training must map to named roles and real operating tasks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 variation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Controlled core with documented local extensions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Pause and decide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2082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350008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SCALE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93592" y="187452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202082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58184" y="2350008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REDESIGN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9944" y="187452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4536" y="202082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74536" y="2350008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DEFER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226296" y="1874520"/>
            <a:ext cx="2487168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202082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90888" y="2350008"/>
            <a:ext cx="21579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STOP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Choose one decision. Name one decisive piece of evidence and one accountable owner.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Answers and reasoning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Strong answers expose assumptions, evidence, consequences and authority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29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Laboratory challenge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2075688"/>
            <a:ext cx="30540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Score readiness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07408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A317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075688"/>
            <a:ext cx="30540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Stress-test priorities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>
              <a:alpha val="5000"/>
            </a:srgbClr>
          </a:solidFill>
          <a:ln w="17780">
            <a:solidFill>
              <a:srgbClr val="00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74650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A6A6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2752" y="2075688"/>
            <a:ext cx="305409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Export a decision record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C5D1"/>
                </a:solidFill>
              </a:rPr>
              <a:t>Synthetic data • transparent assumptions • reproducible outputs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74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SRAI  |  PU-B09-C01  | 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close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6492240"/>
            <a:ext cx="110185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5624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Book 9  •  AI Transformation and Executive Leadership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C5D1"/>
                </a:solidFill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Fund evidence-backed value. Preserve human authority. Stop weak initiatives.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3337560" y="4315968"/>
            <a:ext cx="5532120" cy="0"/>
          </a:xfrm>
          <a:prstGeom prst="line">
            <a:avLst/>
          </a:prstGeom>
          <a:noFill/>
          <a:ln w="508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SRAI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Strategy and Transformation</dc:title>
  <dc:subject>SRAI Book 9 Lesson 1</dc:subject>
  <dc:creator>Mbaye Kebe</dc:creator>
  <cp:lastModifiedBy>Mbaye Kebe</cp:lastModifiedBy>
  <cp:revision>1</cp:revision>
  <dcterms:created xsi:type="dcterms:W3CDTF">2026-09-09T13:23:26Z</dcterms:created>
  <dcterms:modified xsi:type="dcterms:W3CDTF">2026-09-09T13:23:26Z</dcterms:modified>
</cp:coreProperties>
</file>